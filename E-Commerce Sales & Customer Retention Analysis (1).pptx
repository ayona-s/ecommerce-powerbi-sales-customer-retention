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D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28711" y="5148261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FED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3992" y="1136136"/>
            <a:ext cx="10564495" cy="866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11" y="2397105"/>
            <a:ext cx="16779875" cy="7092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6" y="4514764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3699368" y="6879295"/>
            <a:ext cx="2710180" cy="1339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300" spc="70">
                <a:solidFill>
                  <a:srgbClr val="2A2B2F"/>
                </a:solidFill>
                <a:latin typeface="Trebuchet MS"/>
                <a:cs typeface="Trebuchet MS"/>
              </a:rPr>
              <a:t>Presented</a:t>
            </a:r>
            <a:r>
              <a:rPr dirty="0" sz="2300" spc="-165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2A2B2F"/>
                </a:solidFill>
                <a:latin typeface="Trebuchet MS"/>
                <a:cs typeface="Trebuchet MS"/>
              </a:rPr>
              <a:t>By, </a:t>
            </a:r>
            <a:r>
              <a:rPr dirty="0" sz="2300" spc="100">
                <a:solidFill>
                  <a:srgbClr val="2A2B2F"/>
                </a:solidFill>
                <a:latin typeface="Trebuchet MS"/>
                <a:cs typeface="Trebuchet MS"/>
              </a:rPr>
              <a:t>Ayona</a:t>
            </a:r>
            <a:r>
              <a:rPr dirty="0" sz="2300" spc="-15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85">
                <a:solidFill>
                  <a:srgbClr val="2A2B2F"/>
                </a:solidFill>
                <a:latin typeface="Trebuchet MS"/>
                <a:cs typeface="Trebuchet MS"/>
              </a:rPr>
              <a:t>Stephen </a:t>
            </a:r>
            <a:r>
              <a:rPr dirty="0" sz="2300" spc="80">
                <a:solidFill>
                  <a:srgbClr val="2A2B2F"/>
                </a:solidFill>
                <a:latin typeface="Trebuchet MS"/>
                <a:cs typeface="Trebuchet MS"/>
              </a:rPr>
              <a:t>Data</a:t>
            </a:r>
            <a:r>
              <a:rPr dirty="0" sz="2300" spc="-16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100">
                <a:solidFill>
                  <a:srgbClr val="2A2B2F"/>
                </a:solidFill>
                <a:latin typeface="Trebuchet MS"/>
                <a:cs typeface="Trebuchet MS"/>
              </a:rPr>
              <a:t>Science</a:t>
            </a:r>
            <a:r>
              <a:rPr dirty="0" sz="2300" spc="-160">
                <a:solidFill>
                  <a:srgbClr val="2A2B2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2A2B2F"/>
                </a:solidFill>
                <a:latin typeface="Trebuchet MS"/>
                <a:cs typeface="Trebuchet MS"/>
              </a:rPr>
              <a:t>Intern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04518" y="3609667"/>
            <a:ext cx="13280390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580">
                <a:solidFill>
                  <a:srgbClr val="2A2B2F"/>
                </a:solidFill>
              </a:rPr>
              <a:t>E-</a:t>
            </a:r>
            <a:r>
              <a:rPr dirty="0" sz="3900" spc="470">
                <a:solidFill>
                  <a:srgbClr val="2A2B2F"/>
                </a:solidFill>
              </a:rPr>
              <a:t>Commerce</a:t>
            </a:r>
            <a:r>
              <a:rPr dirty="0" sz="3900" spc="195">
                <a:solidFill>
                  <a:srgbClr val="2A2B2F"/>
                </a:solidFill>
              </a:rPr>
              <a:t> </a:t>
            </a:r>
            <a:r>
              <a:rPr dirty="0" sz="3900" spc="215">
                <a:solidFill>
                  <a:srgbClr val="2A2B2F"/>
                </a:solidFill>
              </a:rPr>
              <a:t>Sales</a:t>
            </a:r>
            <a:r>
              <a:rPr dirty="0" sz="3900" spc="195">
                <a:solidFill>
                  <a:srgbClr val="2A2B2F"/>
                </a:solidFill>
              </a:rPr>
              <a:t> </a:t>
            </a:r>
            <a:r>
              <a:rPr dirty="0" sz="3900" spc="575">
                <a:solidFill>
                  <a:srgbClr val="2A2B2F"/>
                </a:solidFill>
              </a:rPr>
              <a:t>&amp;</a:t>
            </a:r>
            <a:r>
              <a:rPr dirty="0" sz="3900" spc="195">
                <a:solidFill>
                  <a:srgbClr val="2A2B2F"/>
                </a:solidFill>
              </a:rPr>
              <a:t> </a:t>
            </a:r>
            <a:r>
              <a:rPr dirty="0" sz="3900" spc="360">
                <a:solidFill>
                  <a:srgbClr val="2A2B2F"/>
                </a:solidFill>
              </a:rPr>
              <a:t>Customer</a:t>
            </a:r>
            <a:r>
              <a:rPr dirty="0" sz="3900" spc="120">
                <a:solidFill>
                  <a:srgbClr val="2A2B2F"/>
                </a:solidFill>
              </a:rPr>
              <a:t> </a:t>
            </a:r>
            <a:r>
              <a:rPr dirty="0" sz="3900" spc="270">
                <a:solidFill>
                  <a:srgbClr val="2A2B2F"/>
                </a:solidFill>
              </a:rPr>
              <a:t>Retention</a:t>
            </a:r>
            <a:r>
              <a:rPr dirty="0" sz="3900" spc="40">
                <a:solidFill>
                  <a:srgbClr val="2A2B2F"/>
                </a:solidFill>
              </a:rPr>
              <a:t> </a:t>
            </a:r>
            <a:r>
              <a:rPr dirty="0" sz="3900" spc="225">
                <a:solidFill>
                  <a:srgbClr val="2A2B2F"/>
                </a:solidFill>
              </a:rPr>
              <a:t>Analysis</a:t>
            </a:r>
            <a:endParaRPr sz="3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90885" y="2900587"/>
            <a:ext cx="15727680" cy="31807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heavy" sz="2850" spc="-26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Why</a:t>
            </a:r>
            <a:r>
              <a:rPr dirty="0" u="heavy" sz="2850" spc="29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2850" spc="-16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This</a:t>
            </a:r>
            <a:r>
              <a:rPr dirty="0" u="heavy" sz="2850" spc="-7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2850" spc="-1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Topic?</a:t>
            </a:r>
            <a:endParaRPr sz="2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20"/>
              </a:spcBef>
            </a:pPr>
            <a:endParaRPr sz="2850">
              <a:latin typeface="Trebuchet MS"/>
              <a:cs typeface="Trebuchet MS"/>
            </a:endParaRPr>
          </a:p>
          <a:p>
            <a:pPr marL="111760">
              <a:lnSpc>
                <a:spcPct val="100000"/>
              </a:lnSpc>
              <a:spcBef>
                <a:spcPts val="5"/>
              </a:spcBef>
            </a:pPr>
            <a:r>
              <a:rPr dirty="0" sz="2850" spc="345">
                <a:latin typeface="Lucida Sans Unicode"/>
                <a:cs typeface="Lucida Sans Unicode"/>
              </a:rPr>
              <a:t>▸</a:t>
            </a:r>
            <a:r>
              <a:rPr dirty="0" sz="2850" spc="-155">
                <a:latin typeface="Lucida Sans Unicode"/>
                <a:cs typeface="Lucida Sans Unicode"/>
              </a:rPr>
              <a:t> </a:t>
            </a:r>
            <a:r>
              <a:rPr dirty="0" sz="2850" spc="85">
                <a:latin typeface="Trebuchet MS"/>
                <a:cs typeface="Trebuchet MS"/>
              </a:rPr>
              <a:t>E-</a:t>
            </a:r>
            <a:r>
              <a:rPr dirty="0" sz="2850" spc="-30">
                <a:latin typeface="Trebuchet MS"/>
                <a:cs typeface="Trebuchet MS"/>
              </a:rPr>
              <a:t>commerce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 spc="-30">
                <a:latin typeface="Trebuchet MS"/>
                <a:cs typeface="Trebuchet MS"/>
              </a:rPr>
              <a:t>is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>
                <a:latin typeface="Trebuchet MS"/>
                <a:cs typeface="Trebuchet MS"/>
              </a:rPr>
              <a:t>one</a:t>
            </a:r>
            <a:r>
              <a:rPr dirty="0" sz="2850" spc="-105">
                <a:latin typeface="Trebuchet MS"/>
                <a:cs typeface="Trebuchet MS"/>
              </a:rPr>
              <a:t> </a:t>
            </a:r>
            <a:r>
              <a:rPr dirty="0" sz="2850">
                <a:latin typeface="Trebuchet MS"/>
                <a:cs typeface="Trebuchet MS"/>
              </a:rPr>
              <a:t>of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 spc="-75">
                <a:latin typeface="Trebuchet MS"/>
                <a:cs typeface="Trebuchet MS"/>
              </a:rPr>
              <a:t>the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 spc="-30">
                <a:latin typeface="Trebuchet MS"/>
                <a:cs typeface="Trebuchet MS"/>
              </a:rPr>
              <a:t>fastest-</a:t>
            </a:r>
            <a:r>
              <a:rPr dirty="0" sz="2850">
                <a:latin typeface="Trebuchet MS"/>
                <a:cs typeface="Trebuchet MS"/>
              </a:rPr>
              <a:t>growing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 spc="-90">
                <a:latin typeface="Trebuchet MS"/>
                <a:cs typeface="Trebuchet MS"/>
              </a:rPr>
              <a:t>industries</a:t>
            </a:r>
            <a:r>
              <a:rPr dirty="0" sz="2850" spc="-105">
                <a:latin typeface="Trebuchet MS"/>
                <a:cs typeface="Trebuchet MS"/>
              </a:rPr>
              <a:t> </a:t>
            </a:r>
            <a:r>
              <a:rPr dirty="0" sz="2850" spc="-10">
                <a:latin typeface="Trebuchet MS"/>
                <a:cs typeface="Trebuchet MS"/>
              </a:rPr>
              <a:t>globally.</a:t>
            </a:r>
            <a:endParaRPr sz="2850">
              <a:latin typeface="Trebuchet MS"/>
              <a:cs typeface="Trebuchet MS"/>
            </a:endParaRPr>
          </a:p>
          <a:p>
            <a:pPr marL="111760">
              <a:lnSpc>
                <a:spcPct val="100000"/>
              </a:lnSpc>
              <a:spcBef>
                <a:spcPts val="855"/>
              </a:spcBef>
            </a:pPr>
            <a:r>
              <a:rPr dirty="0" sz="2850" spc="345">
                <a:latin typeface="Lucida Sans Unicode"/>
                <a:cs typeface="Lucida Sans Unicode"/>
              </a:rPr>
              <a:t>▸</a:t>
            </a:r>
            <a:r>
              <a:rPr dirty="0" sz="2850" spc="-160">
                <a:latin typeface="Lucida Sans Unicode"/>
                <a:cs typeface="Lucida Sans Unicode"/>
              </a:rPr>
              <a:t> </a:t>
            </a:r>
            <a:r>
              <a:rPr dirty="0" sz="2850" spc="-35">
                <a:latin typeface="Trebuchet MS"/>
                <a:cs typeface="Trebuchet MS"/>
              </a:rPr>
              <a:t>Understanding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>
                <a:latin typeface="Trebuchet MS"/>
                <a:cs typeface="Trebuchet MS"/>
              </a:rPr>
              <a:t>sales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 spc="-55">
                <a:latin typeface="Trebuchet MS"/>
                <a:cs typeface="Trebuchet MS"/>
              </a:rPr>
              <a:t>patterns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>
                <a:latin typeface="Trebuchet MS"/>
                <a:cs typeface="Trebuchet MS"/>
              </a:rPr>
              <a:t>and</a:t>
            </a:r>
            <a:r>
              <a:rPr dirty="0" sz="2850" spc="-114">
                <a:latin typeface="Trebuchet MS"/>
                <a:cs typeface="Trebuchet MS"/>
              </a:rPr>
              <a:t> </a:t>
            </a:r>
            <a:r>
              <a:rPr dirty="0" sz="2850" spc="-60">
                <a:latin typeface="Trebuchet MS"/>
                <a:cs typeface="Trebuchet MS"/>
              </a:rPr>
              <a:t>customer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 spc="-45">
                <a:latin typeface="Trebuchet MS"/>
                <a:cs typeface="Trebuchet MS"/>
              </a:rPr>
              <a:t>behavior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 spc="-40">
                <a:latin typeface="Trebuchet MS"/>
                <a:cs typeface="Trebuchet MS"/>
              </a:rPr>
              <a:t>helps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 spc="-90">
                <a:latin typeface="Trebuchet MS"/>
                <a:cs typeface="Trebuchet MS"/>
              </a:rPr>
              <a:t>improve</a:t>
            </a:r>
            <a:r>
              <a:rPr dirty="0" sz="2850" spc="-114">
                <a:latin typeface="Trebuchet MS"/>
                <a:cs typeface="Trebuchet MS"/>
              </a:rPr>
              <a:t> </a:t>
            </a:r>
            <a:r>
              <a:rPr dirty="0" sz="2850" spc="-10">
                <a:latin typeface="Trebuchet MS"/>
                <a:cs typeface="Trebuchet MS"/>
              </a:rPr>
              <a:t>profitability.</a:t>
            </a:r>
            <a:endParaRPr sz="2850">
              <a:latin typeface="Trebuchet MS"/>
              <a:cs typeface="Trebuchet MS"/>
            </a:endParaRPr>
          </a:p>
          <a:p>
            <a:pPr marL="111760">
              <a:lnSpc>
                <a:spcPct val="100000"/>
              </a:lnSpc>
              <a:spcBef>
                <a:spcPts val="855"/>
              </a:spcBef>
            </a:pPr>
            <a:r>
              <a:rPr dirty="0" sz="2850" spc="345">
                <a:latin typeface="Lucida Sans Unicode"/>
                <a:cs typeface="Lucida Sans Unicode"/>
              </a:rPr>
              <a:t>▸</a:t>
            </a:r>
            <a:r>
              <a:rPr dirty="0" sz="2850" spc="-155">
                <a:latin typeface="Lucida Sans Unicode"/>
                <a:cs typeface="Lucida Sans Unicode"/>
              </a:rPr>
              <a:t> </a:t>
            </a:r>
            <a:r>
              <a:rPr dirty="0" sz="2850" spc="-85">
                <a:latin typeface="Trebuchet MS"/>
                <a:cs typeface="Trebuchet MS"/>
              </a:rPr>
              <a:t>Retention</a:t>
            </a:r>
            <a:r>
              <a:rPr dirty="0" sz="2850" spc="-95">
                <a:latin typeface="Trebuchet MS"/>
                <a:cs typeface="Trebuchet MS"/>
              </a:rPr>
              <a:t> </a:t>
            </a:r>
            <a:r>
              <a:rPr dirty="0" sz="2850" spc="-40">
                <a:latin typeface="Trebuchet MS"/>
                <a:cs typeface="Trebuchet MS"/>
              </a:rPr>
              <a:t>analysis</a:t>
            </a:r>
            <a:r>
              <a:rPr dirty="0" sz="2850" spc="-95">
                <a:latin typeface="Trebuchet MS"/>
                <a:cs typeface="Trebuchet MS"/>
              </a:rPr>
              <a:t> </a:t>
            </a:r>
            <a:r>
              <a:rPr dirty="0" sz="2850" spc="-30">
                <a:latin typeface="Trebuchet MS"/>
                <a:cs typeface="Trebuchet MS"/>
              </a:rPr>
              <a:t>is</a:t>
            </a:r>
            <a:r>
              <a:rPr dirty="0" sz="2850" spc="-95">
                <a:latin typeface="Trebuchet MS"/>
                <a:cs typeface="Trebuchet MS"/>
              </a:rPr>
              <a:t> </a:t>
            </a:r>
            <a:r>
              <a:rPr dirty="0" sz="2850" spc="-45">
                <a:latin typeface="Trebuchet MS"/>
                <a:cs typeface="Trebuchet MS"/>
              </a:rPr>
              <a:t>crucial</a:t>
            </a:r>
            <a:r>
              <a:rPr dirty="0" sz="2850" spc="-95">
                <a:latin typeface="Trebuchet MS"/>
                <a:cs typeface="Trebuchet MS"/>
              </a:rPr>
              <a:t> </a:t>
            </a:r>
            <a:r>
              <a:rPr dirty="0" sz="2850">
                <a:latin typeface="Trebuchet MS"/>
                <a:cs typeface="Trebuchet MS"/>
              </a:rPr>
              <a:t>because</a:t>
            </a:r>
            <a:r>
              <a:rPr dirty="0" sz="2850" spc="-95">
                <a:latin typeface="Trebuchet MS"/>
                <a:cs typeface="Trebuchet MS"/>
              </a:rPr>
              <a:t> </a:t>
            </a:r>
            <a:r>
              <a:rPr dirty="0" sz="2850" spc="-100">
                <a:latin typeface="Trebuchet MS"/>
                <a:cs typeface="Trebuchet MS"/>
              </a:rPr>
              <a:t>returning</a:t>
            </a:r>
            <a:r>
              <a:rPr dirty="0" sz="2850" spc="-95">
                <a:latin typeface="Trebuchet MS"/>
                <a:cs typeface="Trebuchet MS"/>
              </a:rPr>
              <a:t> </a:t>
            </a:r>
            <a:r>
              <a:rPr dirty="0" sz="2850" spc="-55">
                <a:latin typeface="Trebuchet MS"/>
                <a:cs typeface="Trebuchet MS"/>
              </a:rPr>
              <a:t>customers</a:t>
            </a:r>
            <a:r>
              <a:rPr dirty="0" sz="2850" spc="-95">
                <a:latin typeface="Trebuchet MS"/>
                <a:cs typeface="Trebuchet MS"/>
              </a:rPr>
              <a:t> </a:t>
            </a:r>
            <a:r>
              <a:rPr dirty="0" sz="2850">
                <a:latin typeface="Trebuchet MS"/>
                <a:cs typeface="Trebuchet MS"/>
              </a:rPr>
              <a:t>generate</a:t>
            </a:r>
            <a:r>
              <a:rPr dirty="0" sz="2850" spc="-95">
                <a:latin typeface="Trebuchet MS"/>
                <a:cs typeface="Trebuchet MS"/>
              </a:rPr>
              <a:t> </a:t>
            </a:r>
            <a:r>
              <a:rPr dirty="0" sz="2850" spc="-45">
                <a:latin typeface="Trebuchet MS"/>
                <a:cs typeface="Trebuchet MS"/>
              </a:rPr>
              <a:t>higher</a:t>
            </a:r>
            <a:r>
              <a:rPr dirty="0" sz="2850" spc="-95">
                <a:latin typeface="Trebuchet MS"/>
                <a:cs typeface="Trebuchet MS"/>
              </a:rPr>
              <a:t> </a:t>
            </a:r>
            <a:r>
              <a:rPr dirty="0" sz="2850">
                <a:latin typeface="Trebuchet MS"/>
                <a:cs typeface="Trebuchet MS"/>
              </a:rPr>
              <a:t>long-</a:t>
            </a:r>
            <a:r>
              <a:rPr dirty="0" sz="2850" spc="-150">
                <a:latin typeface="Trebuchet MS"/>
                <a:cs typeface="Trebuchet MS"/>
              </a:rPr>
              <a:t>term</a:t>
            </a:r>
            <a:r>
              <a:rPr dirty="0" sz="2850" spc="-80">
                <a:latin typeface="Trebuchet MS"/>
                <a:cs typeface="Trebuchet MS"/>
              </a:rPr>
              <a:t> </a:t>
            </a:r>
            <a:r>
              <a:rPr dirty="0" sz="2850" spc="-10">
                <a:latin typeface="Trebuchet MS"/>
                <a:cs typeface="Trebuchet MS"/>
              </a:rPr>
              <a:t>value.</a:t>
            </a:r>
            <a:endParaRPr sz="2850">
              <a:latin typeface="Trebuchet MS"/>
              <a:cs typeface="Trebuchet MS"/>
            </a:endParaRPr>
          </a:p>
          <a:p>
            <a:pPr marL="111760">
              <a:lnSpc>
                <a:spcPct val="100000"/>
              </a:lnSpc>
              <a:spcBef>
                <a:spcPts val="855"/>
              </a:spcBef>
            </a:pPr>
            <a:r>
              <a:rPr dirty="0" sz="2850" spc="345">
                <a:latin typeface="Lucida Sans Unicode"/>
                <a:cs typeface="Lucida Sans Unicode"/>
              </a:rPr>
              <a:t>▸</a:t>
            </a:r>
            <a:r>
              <a:rPr dirty="0" sz="2850" spc="-190">
                <a:latin typeface="Lucida Sans Unicode"/>
                <a:cs typeface="Lucida Sans Unicode"/>
              </a:rPr>
              <a:t> </a:t>
            </a:r>
            <a:r>
              <a:rPr dirty="0" sz="2850" spc="-165">
                <a:latin typeface="Trebuchet MS"/>
                <a:cs typeface="Trebuchet MS"/>
              </a:rPr>
              <a:t>The</a:t>
            </a:r>
            <a:r>
              <a:rPr dirty="0" sz="2850" spc="-75">
                <a:latin typeface="Trebuchet MS"/>
                <a:cs typeface="Trebuchet MS"/>
              </a:rPr>
              <a:t> </a:t>
            </a:r>
            <a:r>
              <a:rPr dirty="0" sz="2850" spc="-85">
                <a:latin typeface="Trebuchet MS"/>
                <a:cs typeface="Trebuchet MS"/>
              </a:rPr>
              <a:t>project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 spc="-45">
                <a:latin typeface="Trebuchet MS"/>
                <a:cs typeface="Trebuchet MS"/>
              </a:rPr>
              <a:t>provides</a:t>
            </a:r>
            <a:r>
              <a:rPr dirty="0" sz="2850" spc="-105">
                <a:latin typeface="Trebuchet MS"/>
                <a:cs typeface="Trebuchet MS"/>
              </a:rPr>
              <a:t> </a:t>
            </a:r>
            <a:r>
              <a:rPr dirty="0" sz="2850" spc="-50">
                <a:latin typeface="Trebuchet MS"/>
                <a:cs typeface="Trebuchet MS"/>
              </a:rPr>
              <a:t>insights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 spc="-75">
                <a:latin typeface="Trebuchet MS"/>
                <a:cs typeface="Trebuchet MS"/>
              </a:rPr>
              <a:t>useful</a:t>
            </a:r>
            <a:r>
              <a:rPr dirty="0" sz="2850" spc="-105">
                <a:latin typeface="Trebuchet MS"/>
                <a:cs typeface="Trebuchet MS"/>
              </a:rPr>
              <a:t> </a:t>
            </a:r>
            <a:r>
              <a:rPr dirty="0" sz="2850" spc="-55">
                <a:latin typeface="Trebuchet MS"/>
                <a:cs typeface="Trebuchet MS"/>
              </a:rPr>
              <a:t>for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 spc="-114">
                <a:latin typeface="Trebuchet MS"/>
                <a:cs typeface="Trebuchet MS"/>
              </a:rPr>
              <a:t>marketing,</a:t>
            </a:r>
            <a:r>
              <a:rPr dirty="0" sz="2850" spc="-100">
                <a:latin typeface="Trebuchet MS"/>
                <a:cs typeface="Trebuchet MS"/>
              </a:rPr>
              <a:t> </a:t>
            </a:r>
            <a:r>
              <a:rPr dirty="0" sz="2850">
                <a:latin typeface="Trebuchet MS"/>
                <a:cs typeface="Trebuchet MS"/>
              </a:rPr>
              <a:t>sales</a:t>
            </a:r>
            <a:r>
              <a:rPr dirty="0" sz="2850" spc="-105">
                <a:latin typeface="Trebuchet MS"/>
                <a:cs typeface="Trebuchet MS"/>
              </a:rPr>
              <a:t> </a:t>
            </a:r>
            <a:r>
              <a:rPr dirty="0" sz="2850" spc="-85">
                <a:latin typeface="Trebuchet MS"/>
                <a:cs typeface="Trebuchet MS"/>
              </a:rPr>
              <a:t>strategy,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>
                <a:latin typeface="Trebuchet MS"/>
                <a:cs typeface="Trebuchet MS"/>
              </a:rPr>
              <a:t>and</a:t>
            </a:r>
            <a:r>
              <a:rPr dirty="0" sz="2850" spc="-105">
                <a:latin typeface="Trebuchet MS"/>
                <a:cs typeface="Trebuchet MS"/>
              </a:rPr>
              <a:t> </a:t>
            </a:r>
            <a:r>
              <a:rPr dirty="0" sz="2850" spc="-60">
                <a:latin typeface="Trebuchet MS"/>
                <a:cs typeface="Trebuchet MS"/>
              </a:rPr>
              <a:t>customer</a:t>
            </a:r>
            <a:r>
              <a:rPr dirty="0" sz="2850" spc="-110">
                <a:latin typeface="Trebuchet MS"/>
                <a:cs typeface="Trebuchet MS"/>
              </a:rPr>
              <a:t> </a:t>
            </a:r>
            <a:r>
              <a:rPr dirty="0" sz="2850" spc="-40">
                <a:latin typeface="Trebuchet MS"/>
                <a:cs typeface="Trebuchet MS"/>
              </a:rPr>
              <a:t>experience</a:t>
            </a:r>
            <a:r>
              <a:rPr dirty="0" sz="2850" spc="-105">
                <a:latin typeface="Trebuchet MS"/>
                <a:cs typeface="Trebuchet MS"/>
              </a:rPr>
              <a:t> </a:t>
            </a:r>
            <a:r>
              <a:rPr dirty="0" sz="2850" spc="-20">
                <a:latin typeface="Trebuchet MS"/>
                <a:cs typeface="Trebuchet MS"/>
              </a:rPr>
              <a:t>teams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99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60"/>
              <a:t>Project</a:t>
            </a:r>
            <a:r>
              <a:rPr dirty="0" spc="50"/>
              <a:t> </a:t>
            </a:r>
            <a:r>
              <a:rPr dirty="0" spc="235"/>
              <a:t>Topic</a:t>
            </a:r>
            <a:r>
              <a:rPr dirty="0" spc="135"/>
              <a:t> </a:t>
            </a:r>
            <a:r>
              <a:rPr dirty="0" spc="370" b="0">
                <a:latin typeface="Cambria"/>
                <a:cs typeface="Cambria"/>
              </a:rPr>
              <a:t>-</a:t>
            </a:r>
            <a:r>
              <a:rPr dirty="0" spc="195" b="0">
                <a:latin typeface="Cambria"/>
                <a:cs typeface="Cambria"/>
              </a:rPr>
              <a:t> </a:t>
            </a:r>
            <a:r>
              <a:rPr dirty="0" spc="385" b="0">
                <a:latin typeface="Cambria"/>
                <a:cs typeface="Cambria"/>
              </a:rPr>
              <a:t>E-</a:t>
            </a:r>
            <a:r>
              <a:rPr dirty="0" spc="395" b="0">
                <a:latin typeface="Cambria"/>
                <a:cs typeface="Cambria"/>
              </a:rPr>
              <a:t>Commerce</a:t>
            </a:r>
            <a:r>
              <a:rPr dirty="0" spc="195" b="0">
                <a:latin typeface="Cambria"/>
                <a:cs typeface="Cambria"/>
              </a:rPr>
              <a:t> </a:t>
            </a:r>
            <a:r>
              <a:rPr dirty="0" spc="200" b="0">
                <a:latin typeface="Cambria"/>
                <a:cs typeface="Cambria"/>
              </a:rPr>
              <a:t>Sales</a:t>
            </a:r>
            <a:r>
              <a:rPr dirty="0" spc="195" b="0">
                <a:latin typeface="Cambria"/>
                <a:cs typeface="Cambria"/>
              </a:rPr>
              <a:t> </a:t>
            </a:r>
            <a:r>
              <a:rPr dirty="0" spc="515" b="0">
                <a:latin typeface="Cambria"/>
                <a:cs typeface="Cambria"/>
              </a:rPr>
              <a:t>&amp;</a:t>
            </a:r>
            <a:r>
              <a:rPr dirty="0" spc="195" b="0">
                <a:latin typeface="Cambria"/>
                <a:cs typeface="Cambria"/>
              </a:rPr>
              <a:t> </a:t>
            </a:r>
            <a:r>
              <a:rPr dirty="0" spc="315" b="0">
                <a:latin typeface="Cambria"/>
                <a:cs typeface="Cambria"/>
              </a:rPr>
              <a:t>Customer</a:t>
            </a:r>
            <a:r>
              <a:rPr dirty="0" spc="120" b="0">
                <a:latin typeface="Cambria"/>
                <a:cs typeface="Cambria"/>
              </a:rPr>
              <a:t> </a:t>
            </a:r>
            <a:r>
              <a:rPr dirty="0" spc="245" b="0">
                <a:latin typeface="Cambria"/>
                <a:cs typeface="Cambria"/>
              </a:rPr>
              <a:t>Retention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028711" y="2184448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0634" rIns="0" bIns="0" rtlCol="0" vert="horz">
            <a:spAutoFit/>
          </a:bodyPr>
          <a:lstStyle/>
          <a:p>
            <a:pPr marL="455295">
              <a:lnSpc>
                <a:spcPct val="100000"/>
              </a:lnSpc>
              <a:spcBef>
                <a:spcPts val="100"/>
              </a:spcBef>
            </a:pPr>
            <a:r>
              <a:rPr dirty="0" spc="140"/>
              <a:t>Dataset</a:t>
            </a:r>
            <a:r>
              <a:rPr dirty="0" spc="145"/>
              <a:t> </a:t>
            </a:r>
            <a:r>
              <a:rPr dirty="0" spc="190"/>
              <a:t>Description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501422" y="2071898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5660" y="6166679"/>
            <a:ext cx="104775" cy="1047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5660" y="6671504"/>
            <a:ext cx="104775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5660" y="7176329"/>
            <a:ext cx="104775" cy="1047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5660" y="7681155"/>
            <a:ext cx="104775" cy="1047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920515" y="2689613"/>
            <a:ext cx="14749144" cy="5739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6895">
              <a:lnSpc>
                <a:spcPct val="100000"/>
              </a:lnSpc>
              <a:spcBef>
                <a:spcPts val="100"/>
              </a:spcBef>
            </a:pPr>
            <a:r>
              <a:rPr dirty="0" u="heavy" sz="2800" spc="-1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Dataset</a:t>
            </a:r>
            <a:r>
              <a:rPr dirty="0" u="heavy" sz="2800" spc="-15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2800" spc="-1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Overview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500" spc="285">
                <a:latin typeface="Lucida Sans Unicode"/>
                <a:cs typeface="Lucida Sans Unicode"/>
              </a:rPr>
              <a:t>▸</a:t>
            </a:r>
            <a:r>
              <a:rPr dirty="0" sz="2500" spc="-170">
                <a:latin typeface="Lucida Sans Unicode"/>
                <a:cs typeface="Lucida Sans Unicode"/>
              </a:rPr>
              <a:t> </a:t>
            </a:r>
            <a:r>
              <a:rPr dirty="0" sz="2500" spc="45">
                <a:latin typeface="Trebuchet MS"/>
                <a:cs typeface="Trebuchet MS"/>
              </a:rPr>
              <a:t>Source:</a:t>
            </a:r>
            <a:r>
              <a:rPr dirty="0" sz="2500" spc="-150">
                <a:latin typeface="Trebuchet MS"/>
                <a:cs typeface="Trebuchet MS"/>
              </a:rPr>
              <a:t> </a:t>
            </a:r>
            <a:r>
              <a:rPr dirty="0" sz="2500" spc="60">
                <a:latin typeface="Trebuchet MS"/>
                <a:cs typeface="Trebuchet MS"/>
              </a:rPr>
              <a:t>Public</a:t>
            </a:r>
            <a:r>
              <a:rPr dirty="0" sz="2500" spc="-185">
                <a:latin typeface="Trebuchet MS"/>
                <a:cs typeface="Trebuchet MS"/>
              </a:rPr>
              <a:t> </a:t>
            </a:r>
            <a:r>
              <a:rPr dirty="0" sz="2500" spc="60">
                <a:latin typeface="Trebuchet MS"/>
                <a:cs typeface="Trebuchet MS"/>
              </a:rPr>
              <a:t>dataset</a:t>
            </a:r>
            <a:r>
              <a:rPr dirty="0" sz="2500" spc="-130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from</a:t>
            </a:r>
            <a:r>
              <a:rPr dirty="0" sz="2500" spc="-135">
                <a:latin typeface="Trebuchet MS"/>
                <a:cs typeface="Trebuchet MS"/>
              </a:rPr>
              <a:t> </a:t>
            </a:r>
            <a:r>
              <a:rPr dirty="0" sz="2500" spc="90">
                <a:latin typeface="Trebuchet MS"/>
                <a:cs typeface="Trebuchet MS"/>
              </a:rPr>
              <a:t>a</a:t>
            </a:r>
            <a:r>
              <a:rPr dirty="0" sz="2500" spc="-130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YouTube</a:t>
            </a:r>
            <a:r>
              <a:rPr dirty="0" sz="2500" spc="-150">
                <a:latin typeface="Trebuchet MS"/>
                <a:cs typeface="Trebuchet MS"/>
              </a:rPr>
              <a:t> </a:t>
            </a:r>
            <a:r>
              <a:rPr dirty="0" sz="2500" spc="55">
                <a:latin typeface="Trebuchet MS"/>
                <a:cs typeface="Trebuchet MS"/>
              </a:rPr>
              <a:t>learning</a:t>
            </a:r>
            <a:r>
              <a:rPr dirty="0" sz="2500" spc="-130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resource.</a:t>
            </a:r>
            <a:endParaRPr sz="25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125"/>
              </a:spcBef>
            </a:pPr>
            <a:r>
              <a:rPr dirty="0" sz="2500" spc="285">
                <a:latin typeface="Lucida Sans Unicode"/>
                <a:cs typeface="Lucida Sans Unicode"/>
              </a:rPr>
              <a:t>▸</a:t>
            </a:r>
            <a:r>
              <a:rPr dirty="0" sz="2500" spc="-175">
                <a:latin typeface="Lucida Sans Unicode"/>
                <a:cs typeface="Lucida Sans Unicode"/>
              </a:rPr>
              <a:t> </a:t>
            </a:r>
            <a:r>
              <a:rPr dirty="0" sz="2500" spc="75">
                <a:latin typeface="Trebuchet MS"/>
                <a:cs typeface="Trebuchet MS"/>
              </a:rPr>
              <a:t>Contains</a:t>
            </a:r>
            <a:r>
              <a:rPr dirty="0" sz="2500" spc="-150">
                <a:latin typeface="Trebuchet MS"/>
                <a:cs typeface="Trebuchet MS"/>
              </a:rPr>
              <a:t> </a:t>
            </a:r>
            <a:r>
              <a:rPr dirty="0" sz="2500" spc="-75">
                <a:latin typeface="Trebuchet MS"/>
                <a:cs typeface="Trebuchet MS"/>
              </a:rPr>
              <a:t>21</a:t>
            </a:r>
            <a:r>
              <a:rPr dirty="0" sz="2500" spc="-170">
                <a:latin typeface="Trebuchet MS"/>
                <a:cs typeface="Trebuchet MS"/>
              </a:rPr>
              <a:t> </a:t>
            </a:r>
            <a:r>
              <a:rPr dirty="0" sz="2500" spc="80">
                <a:latin typeface="Trebuchet MS"/>
                <a:cs typeface="Trebuchet MS"/>
              </a:rPr>
              <a:t>columns</a:t>
            </a:r>
            <a:r>
              <a:rPr dirty="0" sz="2500" spc="-150">
                <a:latin typeface="Trebuchet MS"/>
                <a:cs typeface="Trebuchet MS"/>
              </a:rPr>
              <a:t> </a:t>
            </a:r>
            <a:r>
              <a:rPr dirty="0" sz="2500" spc="80">
                <a:latin typeface="Trebuchet MS"/>
                <a:cs typeface="Trebuchet MS"/>
              </a:rPr>
              <a:t>and</a:t>
            </a:r>
            <a:r>
              <a:rPr dirty="0" sz="2500" spc="-140">
                <a:latin typeface="Trebuchet MS"/>
                <a:cs typeface="Trebuchet MS"/>
              </a:rPr>
              <a:t> </a:t>
            </a:r>
            <a:r>
              <a:rPr dirty="0" sz="2500" spc="50">
                <a:latin typeface="Trebuchet MS"/>
                <a:cs typeface="Trebuchet MS"/>
              </a:rPr>
              <a:t>1,00000+</a:t>
            </a:r>
            <a:r>
              <a:rPr dirty="0" sz="2500" spc="-135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rows,</a:t>
            </a:r>
            <a:r>
              <a:rPr dirty="0" sz="2500" spc="-195">
                <a:latin typeface="Trebuchet MS"/>
                <a:cs typeface="Trebuchet MS"/>
              </a:rPr>
              <a:t> </a:t>
            </a:r>
            <a:r>
              <a:rPr dirty="0" sz="2500" spc="50">
                <a:latin typeface="Trebuchet MS"/>
                <a:cs typeface="Trebuchet MS"/>
              </a:rPr>
              <a:t>covering</a:t>
            </a:r>
            <a:r>
              <a:rPr dirty="0" sz="2500" spc="-170">
                <a:latin typeface="Trebuchet MS"/>
                <a:cs typeface="Trebuchet MS"/>
              </a:rPr>
              <a:t> </a:t>
            </a:r>
            <a:r>
              <a:rPr dirty="0" sz="2500" spc="60">
                <a:latin typeface="Trebuchet MS"/>
                <a:cs typeface="Trebuchet MS"/>
              </a:rPr>
              <a:t>customer</a:t>
            </a:r>
            <a:r>
              <a:rPr dirty="0" sz="2500" spc="-170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details,</a:t>
            </a:r>
            <a:r>
              <a:rPr dirty="0" sz="2500" spc="-190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orders,</a:t>
            </a:r>
            <a:r>
              <a:rPr dirty="0" sz="2500" spc="-15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products,</a:t>
            </a:r>
            <a:r>
              <a:rPr dirty="0" sz="2500" spc="-155">
                <a:latin typeface="Trebuchet MS"/>
                <a:cs typeface="Trebuchet MS"/>
              </a:rPr>
              <a:t> </a:t>
            </a:r>
            <a:r>
              <a:rPr dirty="0" sz="2500" spc="80">
                <a:latin typeface="Trebuchet MS"/>
                <a:cs typeface="Trebuchet MS"/>
              </a:rPr>
              <a:t>and</a:t>
            </a:r>
            <a:r>
              <a:rPr dirty="0" sz="2500" spc="-140">
                <a:latin typeface="Trebuchet MS"/>
                <a:cs typeface="Trebuchet MS"/>
              </a:rPr>
              <a:t> </a:t>
            </a:r>
            <a:r>
              <a:rPr dirty="0" sz="2500" spc="35">
                <a:latin typeface="Trebuchet MS"/>
                <a:cs typeface="Trebuchet MS"/>
              </a:rPr>
              <a:t>shipping.</a:t>
            </a:r>
            <a:endParaRPr sz="2500">
              <a:latin typeface="Trebuchet MS"/>
              <a:cs typeface="Trebuchet MS"/>
            </a:endParaRPr>
          </a:p>
          <a:p>
            <a:pPr marL="20320">
              <a:lnSpc>
                <a:spcPct val="100000"/>
              </a:lnSpc>
              <a:spcBef>
                <a:spcPts val="242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225">
                <a:latin typeface="Lucida Sans Unicode"/>
                <a:cs typeface="Lucida Sans Unicode"/>
              </a:rPr>
              <a:t> </a:t>
            </a:r>
            <a:r>
              <a:rPr dirty="0" sz="2700" spc="90">
                <a:latin typeface="Trebuchet MS"/>
                <a:cs typeface="Trebuchet MS"/>
              </a:rPr>
              <a:t>Key</a:t>
            </a:r>
            <a:r>
              <a:rPr dirty="0" sz="2700" spc="-195">
                <a:latin typeface="Trebuchet MS"/>
                <a:cs typeface="Trebuchet MS"/>
              </a:rPr>
              <a:t> </a:t>
            </a:r>
            <a:r>
              <a:rPr dirty="0" sz="2700" spc="65">
                <a:latin typeface="Trebuchet MS"/>
                <a:cs typeface="Trebuchet MS"/>
              </a:rPr>
              <a:t>fields</a:t>
            </a:r>
            <a:r>
              <a:rPr dirty="0" sz="2700" spc="-195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include: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2700">
              <a:latin typeface="Trebuchet MS"/>
              <a:cs typeface="Trebuchet MS"/>
            </a:endParaRPr>
          </a:p>
          <a:p>
            <a:pPr marL="602615" marR="5883910">
              <a:lnSpc>
                <a:spcPct val="122700"/>
              </a:lnSpc>
            </a:pPr>
            <a:r>
              <a:rPr dirty="0" sz="2700" spc="55" b="1">
                <a:latin typeface="Trebuchet MS"/>
                <a:cs typeface="Trebuchet MS"/>
              </a:rPr>
              <a:t>Customer</a:t>
            </a:r>
            <a:r>
              <a:rPr dirty="0" sz="2700" spc="-229" b="1">
                <a:latin typeface="Trebuchet MS"/>
                <a:cs typeface="Trebuchet MS"/>
              </a:rPr>
              <a:t> </a:t>
            </a:r>
            <a:r>
              <a:rPr dirty="0" sz="2700" b="1">
                <a:latin typeface="Trebuchet MS"/>
                <a:cs typeface="Trebuchet MS"/>
              </a:rPr>
              <a:t>details</a:t>
            </a:r>
            <a:r>
              <a:rPr dirty="0" sz="2700">
                <a:latin typeface="Trebuchet MS"/>
                <a:cs typeface="Trebuchet MS"/>
              </a:rPr>
              <a:t>:</a:t>
            </a:r>
            <a:r>
              <a:rPr dirty="0" sz="2700" spc="-210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customer_id,</a:t>
            </a:r>
            <a:r>
              <a:rPr dirty="0" sz="2700" spc="-175">
                <a:latin typeface="Trebuchet MS"/>
                <a:cs typeface="Trebuchet MS"/>
              </a:rPr>
              <a:t> </a:t>
            </a:r>
            <a:r>
              <a:rPr dirty="0" sz="2700" spc="50">
                <a:latin typeface="Trebuchet MS"/>
                <a:cs typeface="Trebuchet MS"/>
              </a:rPr>
              <a:t>segment,</a:t>
            </a:r>
            <a:r>
              <a:rPr dirty="0" sz="2700" spc="-175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location </a:t>
            </a:r>
            <a:r>
              <a:rPr dirty="0" sz="2700" b="1">
                <a:latin typeface="Trebuchet MS"/>
                <a:cs typeface="Trebuchet MS"/>
              </a:rPr>
              <a:t>Order</a:t>
            </a:r>
            <a:r>
              <a:rPr dirty="0" sz="2700" spc="-204" b="1">
                <a:latin typeface="Trebuchet MS"/>
                <a:cs typeface="Trebuchet MS"/>
              </a:rPr>
              <a:t> </a:t>
            </a:r>
            <a:r>
              <a:rPr dirty="0" sz="2700" b="1">
                <a:latin typeface="Trebuchet MS"/>
                <a:cs typeface="Trebuchet MS"/>
              </a:rPr>
              <a:t>details</a:t>
            </a:r>
            <a:r>
              <a:rPr dirty="0" sz="2700">
                <a:latin typeface="Trebuchet MS"/>
                <a:cs typeface="Trebuchet MS"/>
              </a:rPr>
              <a:t>:</a:t>
            </a:r>
            <a:r>
              <a:rPr dirty="0" sz="2700" spc="-190">
                <a:latin typeface="Trebuchet MS"/>
                <a:cs typeface="Trebuchet MS"/>
              </a:rPr>
              <a:t> </a:t>
            </a:r>
            <a:r>
              <a:rPr dirty="0" sz="2700" spc="-35">
                <a:latin typeface="Trebuchet MS"/>
                <a:cs typeface="Trebuchet MS"/>
              </a:rPr>
              <a:t>order_date,</a:t>
            </a:r>
            <a:r>
              <a:rPr dirty="0" sz="2700" spc="-15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ship_date,</a:t>
            </a:r>
            <a:r>
              <a:rPr dirty="0" sz="2700" spc="-185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order_quantity </a:t>
            </a:r>
            <a:r>
              <a:rPr dirty="0" sz="2700" spc="75" b="1">
                <a:latin typeface="Trebuchet MS"/>
                <a:cs typeface="Trebuchet MS"/>
              </a:rPr>
              <a:t>Category</a:t>
            </a:r>
            <a:r>
              <a:rPr dirty="0" sz="2700" spc="-165" b="1">
                <a:latin typeface="Trebuchet MS"/>
                <a:cs typeface="Trebuchet MS"/>
              </a:rPr>
              <a:t> </a:t>
            </a:r>
            <a:r>
              <a:rPr dirty="0" sz="2700" spc="190" b="1">
                <a:latin typeface="Trebuchet MS"/>
                <a:cs typeface="Trebuchet MS"/>
              </a:rPr>
              <a:t>&amp;</a:t>
            </a:r>
            <a:r>
              <a:rPr dirty="0" sz="2700" spc="-135" b="1">
                <a:latin typeface="Trebuchet MS"/>
                <a:cs typeface="Trebuchet MS"/>
              </a:rPr>
              <a:t> </a:t>
            </a:r>
            <a:r>
              <a:rPr dirty="0" sz="2700" spc="-45" b="1">
                <a:latin typeface="Trebuchet MS"/>
                <a:cs typeface="Trebuchet MS"/>
              </a:rPr>
              <a:t>product</a:t>
            </a:r>
            <a:r>
              <a:rPr dirty="0" sz="2700" spc="-45">
                <a:latin typeface="Trebuchet MS"/>
                <a:cs typeface="Trebuchet MS"/>
              </a:rPr>
              <a:t>:</a:t>
            </a:r>
            <a:r>
              <a:rPr dirty="0" sz="2700" spc="-13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category_name,</a:t>
            </a:r>
            <a:r>
              <a:rPr dirty="0" sz="2700" spc="-95">
                <a:latin typeface="Trebuchet MS"/>
                <a:cs typeface="Trebuchet MS"/>
              </a:rPr>
              <a:t> </a:t>
            </a:r>
            <a:r>
              <a:rPr dirty="0" sz="2700" spc="35">
                <a:latin typeface="Trebuchet MS"/>
                <a:cs typeface="Trebuchet MS"/>
              </a:rPr>
              <a:t>product_name </a:t>
            </a:r>
            <a:r>
              <a:rPr dirty="0" sz="2700" spc="45" b="1">
                <a:latin typeface="Trebuchet MS"/>
                <a:cs typeface="Trebuchet MS"/>
              </a:rPr>
              <a:t>Shipping</a:t>
            </a:r>
            <a:r>
              <a:rPr dirty="0" sz="2700" spc="45">
                <a:latin typeface="Trebuchet MS"/>
                <a:cs typeface="Trebuchet MS"/>
              </a:rPr>
              <a:t>:</a:t>
            </a:r>
            <a:r>
              <a:rPr dirty="0" sz="2700" spc="-185">
                <a:latin typeface="Trebuchet MS"/>
                <a:cs typeface="Trebuchet MS"/>
              </a:rPr>
              <a:t> </a:t>
            </a:r>
            <a:r>
              <a:rPr dirty="0" sz="2700" spc="45">
                <a:latin typeface="Trebuchet MS"/>
                <a:cs typeface="Trebuchet MS"/>
              </a:rPr>
              <a:t>shipping_type,</a:t>
            </a:r>
            <a:r>
              <a:rPr dirty="0" sz="2700" spc="-225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delivery_status</a:t>
            </a:r>
            <a:endParaRPr sz="2700">
              <a:latin typeface="Trebuchet MS"/>
              <a:cs typeface="Trebuchet MS"/>
            </a:endParaRPr>
          </a:p>
          <a:p>
            <a:pPr marL="4400550">
              <a:lnSpc>
                <a:spcPct val="100000"/>
              </a:lnSpc>
              <a:spcBef>
                <a:spcPts val="735"/>
              </a:spcBef>
            </a:pPr>
            <a:r>
              <a:rPr dirty="0" sz="2700" spc="-440">
                <a:latin typeface="Trebuchet MS"/>
                <a:cs typeface="Trebuchet MS"/>
              </a:rPr>
              <a:t>.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00"/>
              </a:spcBef>
            </a:pPr>
            <a:r>
              <a:rPr dirty="0" spc="200"/>
              <a:t>Data</a:t>
            </a:r>
            <a:r>
              <a:rPr dirty="0" spc="135"/>
              <a:t> </a:t>
            </a:r>
            <a:r>
              <a:rPr dirty="0" spc="300"/>
              <a:t>Model</a:t>
            </a:r>
            <a:r>
              <a:rPr dirty="0" spc="140"/>
              <a:t> </a:t>
            </a:r>
            <a:r>
              <a:rPr dirty="0" spc="220"/>
              <a:t>Overview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478911" y="1756758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466211" y="2355881"/>
            <a:ext cx="9104630" cy="554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500" spc="7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Data</a:t>
            </a:r>
            <a:r>
              <a:rPr dirty="0" u="heavy" sz="2500" spc="-17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2500" spc="12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Modeling</a:t>
            </a:r>
            <a:r>
              <a:rPr dirty="0" u="heavy" sz="2500" spc="7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2500" spc="8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Approach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2500">
              <a:latin typeface="Trebuchet MS"/>
              <a:cs typeface="Trebuchet MS"/>
            </a:endParaRPr>
          </a:p>
          <a:p>
            <a:pPr marL="378460">
              <a:lnSpc>
                <a:spcPct val="100000"/>
              </a:lnSpc>
            </a:pPr>
            <a:r>
              <a:rPr dirty="0" sz="2500" spc="285">
                <a:latin typeface="Lucida Sans Unicode"/>
                <a:cs typeface="Lucida Sans Unicode"/>
              </a:rPr>
              <a:t>▸</a:t>
            </a:r>
            <a:r>
              <a:rPr dirty="0" sz="2500" spc="-135">
                <a:latin typeface="Lucida Sans Unicode"/>
                <a:cs typeface="Lucida Sans Unicode"/>
              </a:rPr>
              <a:t> </a:t>
            </a:r>
            <a:r>
              <a:rPr dirty="0" sz="2500" spc="114">
                <a:latin typeface="Trebuchet MS"/>
                <a:cs typeface="Trebuchet MS"/>
              </a:rPr>
              <a:t>Single-</a:t>
            </a:r>
            <a:r>
              <a:rPr dirty="0" sz="2500">
                <a:latin typeface="Trebuchet MS"/>
                <a:cs typeface="Trebuchet MS"/>
              </a:rPr>
              <a:t>table</a:t>
            </a:r>
            <a:r>
              <a:rPr dirty="0" sz="2500" spc="-114">
                <a:latin typeface="Trebuchet MS"/>
                <a:cs typeface="Trebuchet MS"/>
              </a:rPr>
              <a:t> </a:t>
            </a:r>
            <a:r>
              <a:rPr dirty="0" sz="2500" spc="85">
                <a:latin typeface="Trebuchet MS"/>
                <a:cs typeface="Trebuchet MS"/>
              </a:rPr>
              <a:t>analysis</a:t>
            </a:r>
            <a:r>
              <a:rPr dirty="0" sz="2500" spc="-105">
                <a:latin typeface="Trebuchet MS"/>
                <a:cs typeface="Trebuchet MS"/>
              </a:rPr>
              <a:t> </a:t>
            </a:r>
            <a:r>
              <a:rPr dirty="0" sz="2500" spc="-25">
                <a:latin typeface="Trebuchet MS"/>
                <a:cs typeface="Trebuchet MS"/>
              </a:rPr>
              <a:t>(flat</a:t>
            </a:r>
            <a:r>
              <a:rPr dirty="0" sz="2500" spc="-114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table</a:t>
            </a:r>
            <a:r>
              <a:rPr dirty="0" sz="2500" spc="-114">
                <a:latin typeface="Trebuchet MS"/>
                <a:cs typeface="Trebuchet MS"/>
              </a:rPr>
              <a:t> </a:t>
            </a:r>
            <a:r>
              <a:rPr dirty="0" sz="2500" spc="70">
                <a:latin typeface="Trebuchet MS"/>
                <a:cs typeface="Trebuchet MS"/>
              </a:rPr>
              <a:t>named</a:t>
            </a:r>
            <a:r>
              <a:rPr dirty="0" sz="2500" spc="-130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ecommerce_data)</a:t>
            </a:r>
            <a:endParaRPr sz="2500">
              <a:latin typeface="Trebuchet MS"/>
              <a:cs typeface="Trebuchet MS"/>
            </a:endParaRPr>
          </a:p>
          <a:p>
            <a:pPr marL="378460">
              <a:lnSpc>
                <a:spcPct val="100000"/>
              </a:lnSpc>
              <a:spcBef>
                <a:spcPts val="675"/>
              </a:spcBef>
            </a:pPr>
            <a:r>
              <a:rPr dirty="0" sz="2500" spc="285">
                <a:latin typeface="Lucida Sans Unicode"/>
                <a:cs typeface="Lucida Sans Unicode"/>
              </a:rPr>
              <a:t>▸</a:t>
            </a:r>
            <a:r>
              <a:rPr dirty="0" sz="2500" spc="-105">
                <a:latin typeface="Lucida Sans Unicode"/>
                <a:cs typeface="Lucida Sans Unicode"/>
              </a:rPr>
              <a:t> </a:t>
            </a:r>
            <a:r>
              <a:rPr dirty="0" sz="2500" spc="50">
                <a:latin typeface="Trebuchet MS"/>
                <a:cs typeface="Trebuchet MS"/>
              </a:rPr>
              <a:t>Date</a:t>
            </a:r>
            <a:r>
              <a:rPr dirty="0" sz="2500" spc="-10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table</a:t>
            </a:r>
            <a:r>
              <a:rPr dirty="0" sz="2500" spc="-12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created</a:t>
            </a:r>
            <a:r>
              <a:rPr dirty="0" sz="2500" spc="-70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for</a:t>
            </a:r>
            <a:r>
              <a:rPr dirty="0" sz="2500" spc="-8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time-</a:t>
            </a:r>
            <a:r>
              <a:rPr dirty="0" sz="2500" spc="105">
                <a:latin typeface="Trebuchet MS"/>
                <a:cs typeface="Trebuchet MS"/>
              </a:rPr>
              <a:t>based</a:t>
            </a:r>
            <a:r>
              <a:rPr dirty="0" sz="2500" spc="-100">
                <a:latin typeface="Trebuchet MS"/>
                <a:cs typeface="Trebuchet MS"/>
              </a:rPr>
              <a:t> </a:t>
            </a:r>
            <a:r>
              <a:rPr dirty="0" sz="2500" spc="40">
                <a:latin typeface="Trebuchet MS"/>
                <a:cs typeface="Trebuchet MS"/>
              </a:rPr>
              <a:t>calculations</a:t>
            </a:r>
            <a:endParaRPr sz="2500">
              <a:latin typeface="Trebuchet MS"/>
              <a:cs typeface="Trebuchet MS"/>
            </a:endParaRPr>
          </a:p>
          <a:p>
            <a:pPr marL="378460">
              <a:lnSpc>
                <a:spcPct val="100000"/>
              </a:lnSpc>
              <a:spcBef>
                <a:spcPts val="675"/>
              </a:spcBef>
            </a:pPr>
            <a:r>
              <a:rPr dirty="0" sz="2500" spc="285">
                <a:latin typeface="Lucida Sans Unicode"/>
                <a:cs typeface="Lucida Sans Unicode"/>
              </a:rPr>
              <a:t>▸</a:t>
            </a:r>
            <a:r>
              <a:rPr dirty="0" sz="2500" spc="-80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Trebuchet MS"/>
                <a:cs typeface="Trebuchet MS"/>
              </a:rPr>
              <a:t>Relationships:</a:t>
            </a:r>
            <a:r>
              <a:rPr dirty="0" sz="2500" spc="-60">
                <a:latin typeface="Trebuchet MS"/>
                <a:cs typeface="Trebuchet MS"/>
              </a:rPr>
              <a:t> </a:t>
            </a:r>
            <a:r>
              <a:rPr dirty="0" sz="2500" spc="50">
                <a:latin typeface="Trebuchet MS"/>
                <a:cs typeface="Trebuchet MS"/>
              </a:rPr>
              <a:t>Date</a:t>
            </a:r>
            <a:r>
              <a:rPr dirty="0" sz="2500" spc="-5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Table</a:t>
            </a:r>
            <a:r>
              <a:rPr dirty="0" sz="2500" spc="-60">
                <a:latin typeface="Trebuchet MS"/>
                <a:cs typeface="Trebuchet MS"/>
              </a:rPr>
              <a:t> </a:t>
            </a:r>
            <a:r>
              <a:rPr dirty="0" sz="1150" spc="1405">
                <a:latin typeface="Lucida Sans Unicode"/>
                <a:cs typeface="Lucida Sans Unicode"/>
              </a:rPr>
              <a:t>→</a:t>
            </a:r>
            <a:r>
              <a:rPr dirty="0" sz="1150" spc="340">
                <a:latin typeface="Lucida Sans Unicode"/>
                <a:cs typeface="Lucida Sans Unicode"/>
              </a:rPr>
              <a:t> </a:t>
            </a:r>
            <a:r>
              <a:rPr dirty="0" sz="2500">
                <a:latin typeface="Trebuchet MS"/>
                <a:cs typeface="Trebuchet MS"/>
              </a:rPr>
              <a:t>Order</a:t>
            </a:r>
            <a:r>
              <a:rPr dirty="0" sz="2500" spc="-40">
                <a:latin typeface="Trebuchet MS"/>
                <a:cs typeface="Trebuchet MS"/>
              </a:rPr>
              <a:t> </a:t>
            </a:r>
            <a:r>
              <a:rPr dirty="0" sz="2500" spc="30">
                <a:latin typeface="Trebuchet MS"/>
                <a:cs typeface="Trebuchet MS"/>
              </a:rPr>
              <a:t>Date</a:t>
            </a:r>
            <a:endParaRPr sz="2500">
              <a:latin typeface="Trebuchet MS"/>
              <a:cs typeface="Trebuchet MS"/>
            </a:endParaRPr>
          </a:p>
          <a:p>
            <a:pPr marL="378460">
              <a:lnSpc>
                <a:spcPct val="100000"/>
              </a:lnSpc>
              <a:spcBef>
                <a:spcPts val="675"/>
              </a:spcBef>
            </a:pPr>
            <a:r>
              <a:rPr dirty="0" sz="2500" spc="285">
                <a:latin typeface="Lucida Sans Unicode"/>
                <a:cs typeface="Lucida Sans Unicode"/>
              </a:rPr>
              <a:t>▸</a:t>
            </a:r>
            <a:r>
              <a:rPr dirty="0" sz="2500" spc="-170">
                <a:latin typeface="Lucida Sans Unicode"/>
                <a:cs typeface="Lucida Sans Unicode"/>
              </a:rPr>
              <a:t> </a:t>
            </a:r>
            <a:r>
              <a:rPr dirty="0" sz="2500" spc="135">
                <a:latin typeface="Trebuchet MS"/>
                <a:cs typeface="Trebuchet MS"/>
              </a:rPr>
              <a:t>Measures</a:t>
            </a:r>
            <a:r>
              <a:rPr dirty="0" sz="2500" spc="-180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created</a:t>
            </a:r>
            <a:r>
              <a:rPr dirty="0" sz="2500" spc="-135">
                <a:latin typeface="Trebuchet MS"/>
                <a:cs typeface="Trebuchet MS"/>
              </a:rPr>
              <a:t> </a:t>
            </a:r>
            <a:r>
              <a:rPr dirty="0" sz="2500" spc="125">
                <a:latin typeface="Trebuchet MS"/>
                <a:cs typeface="Trebuchet MS"/>
              </a:rPr>
              <a:t>using</a:t>
            </a:r>
            <a:r>
              <a:rPr dirty="0" sz="2500" spc="-135">
                <a:latin typeface="Trebuchet MS"/>
                <a:cs typeface="Trebuchet MS"/>
              </a:rPr>
              <a:t> </a:t>
            </a:r>
            <a:r>
              <a:rPr dirty="0" sz="2500" spc="254">
                <a:latin typeface="Trebuchet MS"/>
                <a:cs typeface="Trebuchet MS"/>
              </a:rPr>
              <a:t>DAX</a:t>
            </a:r>
            <a:r>
              <a:rPr dirty="0" sz="2500" spc="-13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for</a:t>
            </a:r>
            <a:r>
              <a:rPr dirty="0" sz="2500" spc="-135">
                <a:latin typeface="Trebuchet MS"/>
                <a:cs typeface="Trebuchet MS"/>
              </a:rPr>
              <a:t> </a:t>
            </a:r>
            <a:r>
              <a:rPr dirty="0" sz="2500" spc="175">
                <a:latin typeface="Trebuchet MS"/>
                <a:cs typeface="Trebuchet MS"/>
              </a:rPr>
              <a:t>KPIs</a:t>
            </a:r>
            <a:r>
              <a:rPr dirty="0" sz="2500" spc="-145">
                <a:latin typeface="Trebuchet MS"/>
                <a:cs typeface="Trebuchet MS"/>
              </a:rPr>
              <a:t> </a:t>
            </a:r>
            <a:r>
              <a:rPr dirty="0" sz="2500" spc="120">
                <a:latin typeface="Trebuchet MS"/>
                <a:cs typeface="Trebuchet MS"/>
              </a:rPr>
              <a:t>such</a:t>
            </a:r>
            <a:r>
              <a:rPr dirty="0" sz="2500" spc="-135">
                <a:latin typeface="Trebuchet MS"/>
                <a:cs typeface="Trebuchet MS"/>
              </a:rPr>
              <a:t> </a:t>
            </a:r>
            <a:r>
              <a:rPr dirty="0" sz="2500" spc="-25">
                <a:latin typeface="Trebuchet MS"/>
                <a:cs typeface="Trebuchet MS"/>
              </a:rPr>
              <a:t>as:</a:t>
            </a:r>
            <a:endParaRPr sz="2500">
              <a:latin typeface="Trebuchet MS"/>
              <a:cs typeface="Trebuchet MS"/>
            </a:endParaRPr>
          </a:p>
          <a:p>
            <a:pPr marL="1074420">
              <a:lnSpc>
                <a:spcPct val="100000"/>
              </a:lnSpc>
              <a:spcBef>
                <a:spcPts val="675"/>
              </a:spcBef>
            </a:pPr>
            <a:r>
              <a:rPr dirty="0" sz="2500" spc="470">
                <a:latin typeface="Trebuchet MS"/>
                <a:cs typeface="Trebuchet MS"/>
              </a:rPr>
              <a:t>–</a:t>
            </a:r>
            <a:r>
              <a:rPr dirty="0" sz="2500" spc="10">
                <a:latin typeface="Trebuchet MS"/>
                <a:cs typeface="Trebuchet MS"/>
              </a:rPr>
              <a:t> </a:t>
            </a:r>
            <a:r>
              <a:rPr dirty="0" sz="2500" spc="-20">
                <a:latin typeface="Trebuchet MS"/>
                <a:cs typeface="Trebuchet MS"/>
              </a:rPr>
              <a:t>Total</a:t>
            </a:r>
            <a:r>
              <a:rPr dirty="0" sz="2500" spc="-155">
                <a:latin typeface="Trebuchet MS"/>
                <a:cs typeface="Trebuchet MS"/>
              </a:rPr>
              <a:t> </a:t>
            </a:r>
            <a:r>
              <a:rPr dirty="0" sz="2500" spc="155">
                <a:latin typeface="Trebuchet MS"/>
                <a:cs typeface="Trebuchet MS"/>
              </a:rPr>
              <a:t>Sales</a:t>
            </a:r>
            <a:endParaRPr sz="2500">
              <a:latin typeface="Trebuchet MS"/>
              <a:cs typeface="Trebuchet MS"/>
            </a:endParaRPr>
          </a:p>
          <a:p>
            <a:pPr marL="1074420">
              <a:lnSpc>
                <a:spcPct val="100000"/>
              </a:lnSpc>
              <a:spcBef>
                <a:spcPts val="675"/>
              </a:spcBef>
            </a:pPr>
            <a:r>
              <a:rPr dirty="0" sz="2500" spc="95">
                <a:latin typeface="Trebuchet MS"/>
                <a:cs typeface="Trebuchet MS"/>
              </a:rPr>
              <a:t>–Total</a:t>
            </a:r>
            <a:r>
              <a:rPr dirty="0" sz="2500" spc="-165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Profit</a:t>
            </a:r>
            <a:endParaRPr sz="2500">
              <a:latin typeface="Trebuchet MS"/>
              <a:cs typeface="Trebuchet MS"/>
            </a:endParaRPr>
          </a:p>
          <a:p>
            <a:pPr marL="1074420">
              <a:lnSpc>
                <a:spcPct val="100000"/>
              </a:lnSpc>
              <a:spcBef>
                <a:spcPts val="675"/>
              </a:spcBef>
            </a:pPr>
            <a:r>
              <a:rPr dirty="0" sz="2500" spc="240">
                <a:latin typeface="Trebuchet MS"/>
                <a:cs typeface="Trebuchet MS"/>
              </a:rPr>
              <a:t>–New</a:t>
            </a:r>
            <a:r>
              <a:rPr dirty="0" sz="2500" spc="-175">
                <a:latin typeface="Trebuchet MS"/>
                <a:cs typeface="Trebuchet MS"/>
              </a:rPr>
              <a:t> </a:t>
            </a:r>
            <a:r>
              <a:rPr dirty="0" sz="2500" spc="85">
                <a:latin typeface="Trebuchet MS"/>
                <a:cs typeface="Trebuchet MS"/>
              </a:rPr>
              <a:t>Customers</a:t>
            </a:r>
            <a:endParaRPr sz="2500">
              <a:latin typeface="Trebuchet MS"/>
              <a:cs typeface="Trebuchet MS"/>
            </a:endParaRPr>
          </a:p>
          <a:p>
            <a:pPr marL="1074420">
              <a:lnSpc>
                <a:spcPct val="100000"/>
              </a:lnSpc>
              <a:spcBef>
                <a:spcPts val="675"/>
              </a:spcBef>
            </a:pPr>
            <a:r>
              <a:rPr dirty="0" sz="2500" spc="125">
                <a:latin typeface="Trebuchet MS"/>
                <a:cs typeface="Trebuchet MS"/>
              </a:rPr>
              <a:t>–Returning</a:t>
            </a:r>
            <a:r>
              <a:rPr dirty="0" sz="2500" spc="-180">
                <a:latin typeface="Trebuchet MS"/>
                <a:cs typeface="Trebuchet MS"/>
              </a:rPr>
              <a:t> </a:t>
            </a:r>
            <a:r>
              <a:rPr dirty="0" sz="2500" spc="85">
                <a:latin typeface="Trebuchet MS"/>
                <a:cs typeface="Trebuchet MS"/>
              </a:rPr>
              <a:t>Customers</a:t>
            </a:r>
            <a:endParaRPr sz="2500">
              <a:latin typeface="Trebuchet MS"/>
              <a:cs typeface="Trebuchet MS"/>
            </a:endParaRPr>
          </a:p>
          <a:p>
            <a:pPr marL="1074420">
              <a:lnSpc>
                <a:spcPct val="100000"/>
              </a:lnSpc>
              <a:spcBef>
                <a:spcPts val="675"/>
              </a:spcBef>
            </a:pPr>
            <a:r>
              <a:rPr dirty="0" sz="2500" spc="85">
                <a:latin typeface="Trebuchet MS"/>
                <a:cs typeface="Trebuchet MS"/>
              </a:rPr>
              <a:t>–Retention</a:t>
            </a:r>
            <a:r>
              <a:rPr dirty="0" sz="2500" spc="-150">
                <a:latin typeface="Trebuchet MS"/>
                <a:cs typeface="Trebuchet MS"/>
              </a:rPr>
              <a:t> </a:t>
            </a:r>
            <a:r>
              <a:rPr dirty="0" sz="2500" spc="35">
                <a:latin typeface="Trebuchet MS"/>
                <a:cs typeface="Trebuchet MS"/>
              </a:rPr>
              <a:t>Rate</a:t>
            </a:r>
            <a:endParaRPr sz="2500">
              <a:latin typeface="Trebuchet MS"/>
              <a:cs typeface="Trebuchet MS"/>
            </a:endParaRPr>
          </a:p>
          <a:p>
            <a:pPr marL="1074420">
              <a:lnSpc>
                <a:spcPct val="100000"/>
              </a:lnSpc>
              <a:spcBef>
                <a:spcPts val="675"/>
              </a:spcBef>
            </a:pPr>
            <a:r>
              <a:rPr dirty="0" sz="2500" spc="140">
                <a:latin typeface="Trebuchet MS"/>
                <a:cs typeface="Trebuchet MS"/>
              </a:rPr>
              <a:t>–Average</a:t>
            </a:r>
            <a:r>
              <a:rPr dirty="0" sz="2500" spc="-90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Order</a:t>
            </a:r>
            <a:r>
              <a:rPr dirty="0" sz="2500" spc="-130">
                <a:latin typeface="Trebuchet MS"/>
                <a:cs typeface="Trebuchet MS"/>
              </a:rPr>
              <a:t> </a:t>
            </a:r>
            <a:r>
              <a:rPr dirty="0" sz="2500" spc="-20">
                <a:latin typeface="Trebuchet MS"/>
                <a:cs typeface="Trebuchet MS"/>
              </a:rPr>
              <a:t>Value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20717" y="3082395"/>
            <a:ext cx="7016115" cy="39706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55" b="1">
                <a:latin typeface="Trebuchet MS"/>
                <a:cs typeface="Trebuchet MS"/>
              </a:rPr>
              <a:t>Key</a:t>
            </a:r>
            <a:r>
              <a:rPr dirty="0" sz="2700" spc="-260" b="1">
                <a:latin typeface="Trebuchet MS"/>
                <a:cs typeface="Trebuchet MS"/>
              </a:rPr>
              <a:t> </a:t>
            </a:r>
            <a:r>
              <a:rPr dirty="0" sz="2700" spc="90" b="1">
                <a:latin typeface="Trebuchet MS"/>
                <a:cs typeface="Trebuchet MS"/>
              </a:rPr>
              <a:t>Highlights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165">
                <a:latin typeface="Lucida Sans Unicode"/>
                <a:cs typeface="Lucida Sans Unicode"/>
              </a:rPr>
              <a:t> </a:t>
            </a:r>
            <a:r>
              <a:rPr dirty="0" sz="2700" spc="90">
                <a:latin typeface="Trebuchet MS"/>
                <a:cs typeface="Trebuchet MS"/>
              </a:rPr>
              <a:t>Sales,</a:t>
            </a:r>
            <a:r>
              <a:rPr dirty="0" sz="2700" spc="-140">
                <a:latin typeface="Trebuchet MS"/>
                <a:cs typeface="Trebuchet MS"/>
              </a:rPr>
              <a:t> </a:t>
            </a:r>
            <a:r>
              <a:rPr dirty="0" sz="2700" spc="-30">
                <a:latin typeface="Trebuchet MS"/>
                <a:cs typeface="Trebuchet MS"/>
              </a:rPr>
              <a:t>Profit,</a:t>
            </a:r>
            <a:r>
              <a:rPr dirty="0" sz="2700" spc="-14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Orders,</a:t>
            </a:r>
            <a:r>
              <a:rPr dirty="0" sz="2700" spc="-135">
                <a:latin typeface="Trebuchet MS"/>
                <a:cs typeface="Trebuchet MS"/>
              </a:rPr>
              <a:t> </a:t>
            </a:r>
            <a:r>
              <a:rPr dirty="0" sz="2700" spc="75">
                <a:latin typeface="Trebuchet MS"/>
                <a:cs typeface="Trebuchet MS"/>
              </a:rPr>
              <a:t>Average</a:t>
            </a:r>
            <a:r>
              <a:rPr dirty="0" sz="2700" spc="-14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Order</a:t>
            </a:r>
            <a:r>
              <a:rPr dirty="0" sz="2700" spc="-190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Value</a:t>
            </a: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73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185">
                <a:latin typeface="Lucida Sans Unicode"/>
                <a:cs typeface="Lucida Sans Unicode"/>
              </a:rPr>
              <a:t> </a:t>
            </a:r>
            <a:r>
              <a:rPr dirty="0" sz="2700" spc="175">
                <a:latin typeface="Trebuchet MS"/>
                <a:cs typeface="Trebuchet MS"/>
              </a:rPr>
              <a:t>Sales</a:t>
            </a:r>
            <a:r>
              <a:rPr dirty="0" sz="2700" spc="-170">
                <a:latin typeface="Trebuchet MS"/>
                <a:cs typeface="Trebuchet MS"/>
              </a:rPr>
              <a:t> </a:t>
            </a:r>
            <a:r>
              <a:rPr dirty="0" sz="2700" spc="135">
                <a:latin typeface="Trebuchet MS"/>
                <a:cs typeface="Trebuchet MS"/>
              </a:rPr>
              <a:t>vs</a:t>
            </a:r>
            <a:r>
              <a:rPr dirty="0" sz="2700" spc="-15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Profit</a:t>
            </a:r>
            <a:r>
              <a:rPr dirty="0" sz="2700" spc="-145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Trend</a:t>
            </a: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73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229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Top</a:t>
            </a:r>
            <a:r>
              <a:rPr dirty="0" sz="2700" spc="-200">
                <a:latin typeface="Trebuchet MS"/>
                <a:cs typeface="Trebuchet MS"/>
              </a:rPr>
              <a:t> </a:t>
            </a:r>
            <a:r>
              <a:rPr dirty="0" sz="2700" spc="310">
                <a:latin typeface="Trebuchet MS"/>
                <a:cs typeface="Trebuchet MS"/>
              </a:rPr>
              <a:t>5</a:t>
            </a:r>
            <a:r>
              <a:rPr dirty="0" sz="2700" spc="-190">
                <a:latin typeface="Trebuchet MS"/>
                <a:cs typeface="Trebuchet MS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Products</a:t>
            </a:r>
            <a:r>
              <a:rPr dirty="0" sz="2700" spc="-195">
                <a:latin typeface="Trebuchet MS"/>
                <a:cs typeface="Trebuchet MS"/>
              </a:rPr>
              <a:t> </a:t>
            </a:r>
            <a:r>
              <a:rPr dirty="0" sz="2700" spc="70">
                <a:latin typeface="Trebuchet MS"/>
                <a:cs typeface="Trebuchet MS"/>
              </a:rPr>
              <a:t>by</a:t>
            </a:r>
            <a:r>
              <a:rPr dirty="0" sz="2700" spc="-200">
                <a:latin typeface="Trebuchet MS"/>
                <a:cs typeface="Trebuchet MS"/>
              </a:rPr>
              <a:t> </a:t>
            </a:r>
            <a:r>
              <a:rPr dirty="0" sz="2700" spc="165">
                <a:latin typeface="Trebuchet MS"/>
                <a:cs typeface="Trebuchet MS"/>
              </a:rPr>
              <a:t>Sales</a:t>
            </a: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73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229">
                <a:latin typeface="Lucida Sans Unicode"/>
                <a:cs typeface="Lucida Sans Unicode"/>
              </a:rPr>
              <a:t> </a:t>
            </a:r>
            <a:r>
              <a:rPr dirty="0" sz="2700" spc="175">
                <a:latin typeface="Trebuchet MS"/>
                <a:cs typeface="Trebuchet MS"/>
              </a:rPr>
              <a:t>Sales</a:t>
            </a:r>
            <a:r>
              <a:rPr dirty="0" sz="2700" spc="-195">
                <a:latin typeface="Trebuchet MS"/>
                <a:cs typeface="Trebuchet MS"/>
              </a:rPr>
              <a:t> </a:t>
            </a:r>
            <a:r>
              <a:rPr dirty="0" sz="2700" spc="70">
                <a:latin typeface="Trebuchet MS"/>
                <a:cs typeface="Trebuchet MS"/>
              </a:rPr>
              <a:t>by</a:t>
            </a:r>
            <a:r>
              <a:rPr dirty="0" sz="2700" spc="-195">
                <a:latin typeface="Trebuchet MS"/>
                <a:cs typeface="Trebuchet MS"/>
              </a:rPr>
              <a:t> </a:t>
            </a:r>
            <a:r>
              <a:rPr dirty="0" sz="2700" spc="80">
                <a:latin typeface="Trebuchet MS"/>
                <a:cs typeface="Trebuchet MS"/>
              </a:rPr>
              <a:t>Customer</a:t>
            </a:r>
            <a:r>
              <a:rPr dirty="0" sz="2700" spc="-190">
                <a:latin typeface="Trebuchet MS"/>
                <a:cs typeface="Trebuchet MS"/>
              </a:rPr>
              <a:t> </a:t>
            </a:r>
            <a:r>
              <a:rPr dirty="0" sz="2700" spc="125">
                <a:latin typeface="Trebuchet MS"/>
                <a:cs typeface="Trebuchet MS"/>
              </a:rPr>
              <a:t>Segment</a:t>
            </a: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73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110">
                <a:latin typeface="Lucida Sans Unicode"/>
                <a:cs typeface="Lucida Sans Unicode"/>
              </a:rPr>
              <a:t> </a:t>
            </a:r>
            <a:r>
              <a:rPr dirty="0" sz="2700" spc="175">
                <a:latin typeface="Trebuchet MS"/>
                <a:cs typeface="Trebuchet MS"/>
              </a:rPr>
              <a:t>Sales</a:t>
            </a:r>
            <a:r>
              <a:rPr dirty="0" sz="2700" spc="-8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Distribution</a:t>
            </a:r>
            <a:r>
              <a:rPr dirty="0" sz="2700" spc="-65">
                <a:latin typeface="Trebuchet MS"/>
                <a:cs typeface="Trebuchet MS"/>
              </a:rPr>
              <a:t> </a:t>
            </a:r>
            <a:r>
              <a:rPr dirty="0" sz="2700" spc="70">
                <a:latin typeface="Trebuchet MS"/>
                <a:cs typeface="Trebuchet MS"/>
              </a:rPr>
              <a:t>by</a:t>
            </a:r>
            <a:r>
              <a:rPr dirty="0" sz="2700" spc="-80">
                <a:latin typeface="Trebuchet MS"/>
                <a:cs typeface="Trebuchet MS"/>
              </a:rPr>
              <a:t> </a:t>
            </a:r>
            <a:r>
              <a:rPr dirty="0" sz="2700" spc="75">
                <a:latin typeface="Trebuchet MS"/>
                <a:cs typeface="Trebuchet MS"/>
              </a:rPr>
              <a:t>State</a:t>
            </a: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73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21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Trebuchet MS"/>
                <a:cs typeface="Trebuchet MS"/>
              </a:rPr>
              <a:t>Year</a:t>
            </a:r>
            <a:r>
              <a:rPr dirty="0" sz="2700" spc="-16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&amp;</a:t>
            </a:r>
            <a:r>
              <a:rPr dirty="0" sz="2700" spc="-165">
                <a:latin typeface="Trebuchet MS"/>
                <a:cs typeface="Trebuchet MS"/>
              </a:rPr>
              <a:t> </a:t>
            </a:r>
            <a:r>
              <a:rPr dirty="0" sz="2700" spc="110">
                <a:latin typeface="Trebuchet MS"/>
                <a:cs typeface="Trebuchet MS"/>
              </a:rPr>
              <a:t>Month</a:t>
            </a:r>
            <a:r>
              <a:rPr dirty="0" sz="2700" spc="-165">
                <a:latin typeface="Trebuchet MS"/>
                <a:cs typeface="Trebuchet MS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slicers</a:t>
            </a:r>
            <a:r>
              <a:rPr dirty="0" sz="2700" spc="-17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for</a:t>
            </a:r>
            <a:r>
              <a:rPr dirty="0" sz="2700" spc="-165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interactivity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76462" y="978566"/>
            <a:ext cx="943229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10"/>
              <a:t>Dashboard</a:t>
            </a:r>
            <a:r>
              <a:rPr dirty="0" spc="120"/>
              <a:t> </a:t>
            </a:r>
            <a:r>
              <a:rPr dirty="0" spc="229"/>
              <a:t>Overview</a:t>
            </a:r>
            <a:r>
              <a:rPr dirty="0" spc="40"/>
              <a:t> </a:t>
            </a:r>
            <a:r>
              <a:rPr dirty="0" spc="110"/>
              <a:t>(Page</a:t>
            </a:r>
            <a:r>
              <a:rPr dirty="0" spc="120"/>
              <a:t> </a:t>
            </a:r>
            <a:r>
              <a:rPr dirty="0" spc="-185"/>
              <a:t>1:</a:t>
            </a:r>
            <a:r>
              <a:rPr dirty="0" spc="120"/>
              <a:t> </a:t>
            </a:r>
            <a:r>
              <a:rPr dirty="0" spc="215"/>
              <a:t>Executive</a:t>
            </a:r>
            <a:r>
              <a:rPr dirty="0" spc="120"/>
              <a:t> </a:t>
            </a:r>
            <a:r>
              <a:rPr dirty="0" spc="254"/>
              <a:t>Summary)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478911" y="1756758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0271" rIns="0" bIns="0" rtlCol="0" vert="horz">
            <a:spAutoFit/>
          </a:bodyPr>
          <a:lstStyle/>
          <a:p>
            <a:pPr marL="351790">
              <a:lnSpc>
                <a:spcPct val="100000"/>
              </a:lnSpc>
              <a:spcBef>
                <a:spcPts val="100"/>
              </a:spcBef>
            </a:pPr>
            <a:r>
              <a:rPr dirty="0" spc="210"/>
              <a:t>Dashboard</a:t>
            </a:r>
            <a:r>
              <a:rPr dirty="0" spc="140"/>
              <a:t> </a:t>
            </a:r>
            <a:r>
              <a:rPr dirty="0" spc="229"/>
              <a:t>Overview</a:t>
            </a:r>
            <a:r>
              <a:rPr dirty="0" spc="55"/>
              <a:t> </a:t>
            </a:r>
            <a:r>
              <a:rPr dirty="0" spc="110"/>
              <a:t>(Page</a:t>
            </a:r>
            <a:r>
              <a:rPr dirty="0" spc="140"/>
              <a:t> </a:t>
            </a:r>
            <a:r>
              <a:rPr dirty="0" spc="70"/>
              <a:t>2:</a:t>
            </a:r>
            <a:r>
              <a:rPr dirty="0" spc="140"/>
              <a:t> </a:t>
            </a:r>
            <a:r>
              <a:rPr dirty="0" spc="260"/>
              <a:t>Customer</a:t>
            </a:r>
            <a:r>
              <a:rPr dirty="0" spc="90"/>
              <a:t> </a:t>
            </a:r>
            <a:r>
              <a:rPr dirty="0" spc="105"/>
              <a:t>Insights)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028711" y="2049388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430733" y="3274514"/>
            <a:ext cx="12310745" cy="35229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85">
                <a:latin typeface="Trebuchet MS"/>
                <a:cs typeface="Trebuchet MS"/>
              </a:rPr>
              <a:t>Customer</a:t>
            </a:r>
            <a:r>
              <a:rPr dirty="0" sz="2700" spc="-190">
                <a:latin typeface="Trebuchet MS"/>
                <a:cs typeface="Trebuchet MS"/>
              </a:rPr>
              <a:t> </a:t>
            </a:r>
            <a:r>
              <a:rPr dirty="0" sz="2700" spc="55">
                <a:latin typeface="Trebuchet MS"/>
                <a:cs typeface="Trebuchet MS"/>
              </a:rPr>
              <a:t>Behavior</a:t>
            </a:r>
            <a:r>
              <a:rPr dirty="0" sz="2700" spc="-185">
                <a:latin typeface="Trebuchet MS"/>
                <a:cs typeface="Trebuchet MS"/>
              </a:rPr>
              <a:t> </a:t>
            </a:r>
            <a:r>
              <a:rPr dirty="0" sz="2700" spc="110">
                <a:latin typeface="Trebuchet MS"/>
                <a:cs typeface="Trebuchet MS"/>
              </a:rPr>
              <a:t>Analysis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700">
              <a:latin typeface="Trebuchet MS"/>
              <a:cs typeface="Trebuchet MS"/>
            </a:endParaRPr>
          </a:p>
          <a:p>
            <a:pPr marL="882015">
              <a:lnSpc>
                <a:spcPct val="100000"/>
              </a:lnSpc>
              <a:spcBef>
                <a:spcPts val="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45">
                <a:latin typeface="Lucida Sans Unicode"/>
                <a:cs typeface="Lucida Sans Unicode"/>
              </a:rPr>
              <a:t> </a:t>
            </a:r>
            <a:r>
              <a:rPr dirty="0" sz="2700" spc="-20">
                <a:latin typeface="Trebuchet MS"/>
                <a:cs typeface="Trebuchet MS"/>
              </a:rPr>
              <a:t>Total</a:t>
            </a:r>
            <a:r>
              <a:rPr dirty="0" sz="2700">
                <a:latin typeface="Trebuchet MS"/>
                <a:cs typeface="Trebuchet MS"/>
              </a:rPr>
              <a:t> </a:t>
            </a:r>
            <a:r>
              <a:rPr dirty="0" sz="2700" spc="75">
                <a:latin typeface="Trebuchet MS"/>
                <a:cs typeface="Trebuchet MS"/>
              </a:rPr>
              <a:t>Customers,New</a:t>
            </a:r>
            <a:r>
              <a:rPr dirty="0" sz="2700" spc="-15">
                <a:latin typeface="Trebuchet MS"/>
                <a:cs typeface="Trebuchet MS"/>
              </a:rPr>
              <a:t> </a:t>
            </a:r>
            <a:r>
              <a:rPr dirty="0" sz="2700" spc="65">
                <a:latin typeface="Trebuchet MS"/>
                <a:cs typeface="Trebuchet MS"/>
              </a:rPr>
              <a:t>Customers,Returning</a:t>
            </a:r>
            <a:r>
              <a:rPr dirty="0" sz="2700">
                <a:latin typeface="Trebuchet MS"/>
                <a:cs typeface="Trebuchet MS"/>
              </a:rPr>
              <a:t> Customers,Retention </a:t>
            </a:r>
            <a:r>
              <a:rPr dirty="0" sz="2700" spc="35">
                <a:latin typeface="Trebuchet MS"/>
                <a:cs typeface="Trebuchet MS"/>
              </a:rPr>
              <a:t>Rate</a:t>
            </a:r>
            <a:endParaRPr sz="2700">
              <a:latin typeface="Trebuchet MS"/>
              <a:cs typeface="Trebuchet MS"/>
            </a:endParaRPr>
          </a:p>
          <a:p>
            <a:pPr marL="882015">
              <a:lnSpc>
                <a:spcPct val="100000"/>
              </a:lnSpc>
              <a:spcBef>
                <a:spcPts val="810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225">
                <a:latin typeface="Lucida Sans Unicode"/>
                <a:cs typeface="Lucida Sans Unicode"/>
              </a:rPr>
              <a:t> </a:t>
            </a:r>
            <a:r>
              <a:rPr dirty="0" sz="2700" spc="125">
                <a:latin typeface="Trebuchet MS"/>
                <a:cs typeface="Trebuchet MS"/>
              </a:rPr>
              <a:t>New</a:t>
            </a:r>
            <a:r>
              <a:rPr dirty="0" sz="2700" spc="-210">
                <a:latin typeface="Trebuchet MS"/>
                <a:cs typeface="Trebuchet MS"/>
              </a:rPr>
              <a:t> </a:t>
            </a:r>
            <a:r>
              <a:rPr dirty="0" sz="2700" spc="135">
                <a:latin typeface="Trebuchet MS"/>
                <a:cs typeface="Trebuchet MS"/>
              </a:rPr>
              <a:t>vs</a:t>
            </a:r>
            <a:r>
              <a:rPr dirty="0" sz="2700" spc="-195">
                <a:latin typeface="Trebuchet MS"/>
                <a:cs typeface="Trebuchet MS"/>
              </a:rPr>
              <a:t> </a:t>
            </a:r>
            <a:r>
              <a:rPr dirty="0" sz="2700" spc="70">
                <a:latin typeface="Trebuchet MS"/>
                <a:cs typeface="Trebuchet MS"/>
              </a:rPr>
              <a:t>Returning</a:t>
            </a:r>
            <a:r>
              <a:rPr dirty="0" sz="2700" spc="-185">
                <a:latin typeface="Trebuchet MS"/>
                <a:cs typeface="Trebuchet MS"/>
              </a:rPr>
              <a:t> </a:t>
            </a:r>
            <a:r>
              <a:rPr dirty="0" sz="2700" spc="105">
                <a:latin typeface="Trebuchet MS"/>
                <a:cs typeface="Trebuchet MS"/>
              </a:rPr>
              <a:t>Customers</a:t>
            </a:r>
            <a:r>
              <a:rPr dirty="0" sz="2700" spc="-195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Trend</a:t>
            </a:r>
            <a:endParaRPr sz="2700">
              <a:latin typeface="Trebuchet MS"/>
              <a:cs typeface="Trebuchet MS"/>
            </a:endParaRPr>
          </a:p>
          <a:p>
            <a:pPr marL="882015">
              <a:lnSpc>
                <a:spcPct val="100000"/>
              </a:lnSpc>
              <a:spcBef>
                <a:spcPts val="810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235">
                <a:latin typeface="Lucida Sans Unicode"/>
                <a:cs typeface="Lucida Sans Unicode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Customer</a:t>
            </a:r>
            <a:r>
              <a:rPr dirty="0" sz="2700" spc="-190">
                <a:latin typeface="Trebuchet MS"/>
                <a:cs typeface="Trebuchet MS"/>
              </a:rPr>
              <a:t> </a:t>
            </a:r>
            <a:r>
              <a:rPr dirty="0" sz="2700" spc="100">
                <a:latin typeface="Trebuchet MS"/>
                <a:cs typeface="Trebuchet MS"/>
              </a:rPr>
              <a:t>Purchase</a:t>
            </a:r>
            <a:r>
              <a:rPr dirty="0" sz="2700" spc="-204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Trend</a:t>
            </a:r>
            <a:endParaRPr sz="2700">
              <a:latin typeface="Trebuchet MS"/>
              <a:cs typeface="Trebuchet MS"/>
            </a:endParaRPr>
          </a:p>
          <a:p>
            <a:pPr marL="882015">
              <a:lnSpc>
                <a:spcPct val="100000"/>
              </a:lnSpc>
              <a:spcBef>
                <a:spcPts val="810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155">
                <a:latin typeface="Lucida Sans Unicode"/>
                <a:cs typeface="Lucida Sans Unicode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Customer</a:t>
            </a:r>
            <a:r>
              <a:rPr dirty="0" sz="2700" spc="-11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Retention</a:t>
            </a:r>
            <a:r>
              <a:rPr dirty="0" sz="2700" spc="-110">
                <a:latin typeface="Trebuchet MS"/>
                <a:cs typeface="Trebuchet MS"/>
              </a:rPr>
              <a:t> </a:t>
            </a:r>
            <a:r>
              <a:rPr dirty="0" sz="2700" spc="55">
                <a:latin typeface="Trebuchet MS"/>
                <a:cs typeface="Trebuchet MS"/>
              </a:rPr>
              <a:t>Rate</a:t>
            </a:r>
            <a:r>
              <a:rPr dirty="0" sz="2700" spc="-13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Over</a:t>
            </a:r>
            <a:r>
              <a:rPr dirty="0" sz="2700" spc="-110">
                <a:latin typeface="Trebuchet MS"/>
                <a:cs typeface="Trebuchet MS"/>
              </a:rPr>
              <a:t> </a:t>
            </a:r>
            <a:r>
              <a:rPr dirty="0" sz="2700" spc="-20">
                <a:latin typeface="Trebuchet MS"/>
                <a:cs typeface="Trebuchet MS"/>
              </a:rPr>
              <a:t>Time</a:t>
            </a:r>
            <a:endParaRPr sz="2700">
              <a:latin typeface="Trebuchet MS"/>
              <a:cs typeface="Trebuchet MS"/>
            </a:endParaRPr>
          </a:p>
          <a:p>
            <a:pPr marL="882015">
              <a:lnSpc>
                <a:spcPct val="100000"/>
              </a:lnSpc>
              <a:spcBef>
                <a:spcPts val="810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229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Top</a:t>
            </a:r>
            <a:r>
              <a:rPr dirty="0" sz="2700" spc="-200">
                <a:latin typeface="Trebuchet MS"/>
                <a:cs typeface="Trebuchet MS"/>
              </a:rPr>
              <a:t> </a:t>
            </a:r>
            <a:r>
              <a:rPr dirty="0" sz="2700" spc="310">
                <a:latin typeface="Trebuchet MS"/>
                <a:cs typeface="Trebuchet MS"/>
              </a:rPr>
              <a:t>5</a:t>
            </a:r>
            <a:r>
              <a:rPr dirty="0" sz="2700" spc="-185">
                <a:latin typeface="Trebuchet MS"/>
                <a:cs typeface="Trebuchet MS"/>
              </a:rPr>
              <a:t> </a:t>
            </a:r>
            <a:r>
              <a:rPr dirty="0" sz="2700" spc="105">
                <a:latin typeface="Trebuchet MS"/>
                <a:cs typeface="Trebuchet MS"/>
              </a:rPr>
              <a:t>Customers</a:t>
            </a:r>
            <a:r>
              <a:rPr dirty="0" sz="2700" spc="-195">
                <a:latin typeface="Trebuchet MS"/>
                <a:cs typeface="Trebuchet MS"/>
              </a:rPr>
              <a:t> </a:t>
            </a:r>
            <a:r>
              <a:rPr dirty="0" sz="2700" spc="70">
                <a:latin typeface="Trebuchet MS"/>
                <a:cs typeface="Trebuchet MS"/>
              </a:rPr>
              <a:t>by</a:t>
            </a:r>
            <a:r>
              <a:rPr dirty="0" sz="2700" spc="-200">
                <a:latin typeface="Trebuchet MS"/>
                <a:cs typeface="Trebuchet MS"/>
              </a:rPr>
              <a:t> </a:t>
            </a:r>
            <a:r>
              <a:rPr dirty="0" sz="2700" spc="165">
                <a:latin typeface="Trebuchet MS"/>
                <a:cs typeface="Trebuchet MS"/>
              </a:rPr>
              <a:t>Sales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800" rIns="0" bIns="0" rtlCol="0" vert="horz">
            <a:spAutoFit/>
          </a:bodyPr>
          <a:lstStyle/>
          <a:p>
            <a:pPr marL="219710">
              <a:lnSpc>
                <a:spcPct val="100000"/>
              </a:lnSpc>
              <a:spcBef>
                <a:spcPts val="100"/>
              </a:spcBef>
            </a:pPr>
            <a:r>
              <a:rPr dirty="0" spc="210"/>
              <a:t>Dashboard</a:t>
            </a:r>
            <a:r>
              <a:rPr dirty="0" spc="135"/>
              <a:t> </a:t>
            </a:r>
            <a:r>
              <a:rPr dirty="0" spc="229"/>
              <a:t>Overview</a:t>
            </a:r>
            <a:r>
              <a:rPr dirty="0" spc="60"/>
              <a:t> </a:t>
            </a:r>
            <a:r>
              <a:rPr dirty="0" spc="110"/>
              <a:t>(Page</a:t>
            </a:r>
            <a:r>
              <a:rPr dirty="0" spc="135"/>
              <a:t> </a:t>
            </a:r>
            <a:r>
              <a:rPr dirty="0" spc="55"/>
              <a:t>3:</a:t>
            </a:r>
            <a:r>
              <a:rPr dirty="0" spc="140"/>
              <a:t> </a:t>
            </a:r>
            <a:r>
              <a:rPr dirty="0" spc="204"/>
              <a:t>Product</a:t>
            </a:r>
            <a:r>
              <a:rPr dirty="0" spc="135"/>
              <a:t> </a:t>
            </a:r>
            <a:r>
              <a:rPr dirty="0" spc="175"/>
              <a:t>Performance)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028711" y="2161938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714325" y="3036182"/>
            <a:ext cx="11010265" cy="3071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50">
                <a:latin typeface="Trebuchet MS"/>
                <a:cs typeface="Trebuchet MS"/>
              </a:rPr>
              <a:t>Product-</a:t>
            </a:r>
            <a:r>
              <a:rPr dirty="0" sz="2800">
                <a:latin typeface="Trebuchet MS"/>
                <a:cs typeface="Trebuchet MS"/>
              </a:rPr>
              <a:t>Level</a:t>
            </a:r>
            <a:r>
              <a:rPr dirty="0" sz="2800" spc="-3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Insights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z="2800">
              <a:latin typeface="Trebuchet MS"/>
              <a:cs typeface="Trebuchet MS"/>
            </a:endParaRPr>
          </a:p>
          <a:p>
            <a:pPr marL="94615">
              <a:lnSpc>
                <a:spcPct val="100000"/>
              </a:lnSpc>
            </a:pPr>
            <a:r>
              <a:rPr dirty="0" sz="2800" spc="320">
                <a:latin typeface="Lucida Sans Unicode"/>
                <a:cs typeface="Lucida Sans Unicode"/>
              </a:rPr>
              <a:t>▸</a:t>
            </a:r>
            <a:r>
              <a:rPr dirty="0" sz="2800" spc="-210">
                <a:latin typeface="Lucida Sans Unicode"/>
                <a:cs typeface="Lucida Sans Unicode"/>
              </a:rPr>
              <a:t> </a:t>
            </a:r>
            <a:r>
              <a:rPr dirty="0" sz="2800" spc="-20">
                <a:latin typeface="Trebuchet MS"/>
                <a:cs typeface="Trebuchet MS"/>
              </a:rPr>
              <a:t>Total</a:t>
            </a:r>
            <a:r>
              <a:rPr dirty="0" sz="2800" spc="-165">
                <a:latin typeface="Trebuchet MS"/>
                <a:cs typeface="Trebuchet MS"/>
              </a:rPr>
              <a:t> </a:t>
            </a:r>
            <a:r>
              <a:rPr dirty="0" sz="2800" spc="85">
                <a:latin typeface="Trebuchet MS"/>
                <a:cs typeface="Trebuchet MS"/>
              </a:rPr>
              <a:t>Products</a:t>
            </a:r>
            <a:r>
              <a:rPr dirty="0" sz="2800" spc="-175">
                <a:latin typeface="Trebuchet MS"/>
                <a:cs typeface="Trebuchet MS"/>
              </a:rPr>
              <a:t> </a:t>
            </a:r>
            <a:r>
              <a:rPr dirty="0" sz="2800" spc="55">
                <a:latin typeface="Trebuchet MS"/>
                <a:cs typeface="Trebuchet MS"/>
              </a:rPr>
              <a:t>Sold,</a:t>
            </a:r>
            <a:r>
              <a:rPr dirty="0" sz="2800" spc="-180">
                <a:latin typeface="Trebuchet MS"/>
                <a:cs typeface="Trebuchet MS"/>
              </a:rPr>
              <a:t> </a:t>
            </a:r>
            <a:r>
              <a:rPr dirty="0" sz="2800" spc="160">
                <a:latin typeface="Trebuchet MS"/>
                <a:cs typeface="Trebuchet MS"/>
              </a:rPr>
              <a:t>Avg</a:t>
            </a:r>
            <a:r>
              <a:rPr dirty="0" sz="2800" spc="-16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Profit</a:t>
            </a:r>
            <a:r>
              <a:rPr dirty="0" sz="2800" spc="-165">
                <a:latin typeface="Trebuchet MS"/>
                <a:cs typeface="Trebuchet MS"/>
              </a:rPr>
              <a:t> </a:t>
            </a:r>
            <a:r>
              <a:rPr dirty="0" sz="2800" spc="75">
                <a:latin typeface="Trebuchet MS"/>
                <a:cs typeface="Trebuchet MS"/>
              </a:rPr>
              <a:t>Margin,</a:t>
            </a:r>
            <a:r>
              <a:rPr dirty="0" sz="2800" spc="-18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Top</a:t>
            </a:r>
            <a:r>
              <a:rPr dirty="0" sz="2800" spc="-185">
                <a:latin typeface="Trebuchet MS"/>
                <a:cs typeface="Trebuchet MS"/>
              </a:rPr>
              <a:t> </a:t>
            </a:r>
            <a:r>
              <a:rPr dirty="0" sz="2800" spc="60">
                <a:latin typeface="Trebuchet MS"/>
                <a:cs typeface="Trebuchet MS"/>
              </a:rPr>
              <a:t>Product</a:t>
            </a:r>
            <a:r>
              <a:rPr dirty="0" sz="2800" spc="-16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Contribution</a:t>
            </a:r>
            <a:endParaRPr sz="2800">
              <a:latin typeface="Trebuchet MS"/>
              <a:cs typeface="Trebuchet MS"/>
            </a:endParaRPr>
          </a:p>
          <a:p>
            <a:pPr marL="94615">
              <a:lnSpc>
                <a:spcPct val="100000"/>
              </a:lnSpc>
              <a:spcBef>
                <a:spcPts val="765"/>
              </a:spcBef>
            </a:pPr>
            <a:r>
              <a:rPr dirty="0" sz="2800" spc="320">
                <a:latin typeface="Lucida Sans Unicode"/>
                <a:cs typeface="Lucida Sans Unicode"/>
              </a:rPr>
              <a:t>▸</a:t>
            </a:r>
            <a:r>
              <a:rPr dirty="0" sz="2800" spc="-170">
                <a:latin typeface="Lucida Sans Unicode"/>
                <a:cs typeface="Lucida Sans Unicode"/>
              </a:rPr>
              <a:t> </a:t>
            </a:r>
            <a:r>
              <a:rPr dirty="0" sz="2800">
                <a:latin typeface="Trebuchet MS"/>
                <a:cs typeface="Trebuchet MS"/>
              </a:rPr>
              <a:t>Profit</a:t>
            </a:r>
            <a:r>
              <a:rPr dirty="0" sz="2800" spc="-125">
                <a:latin typeface="Trebuchet MS"/>
                <a:cs typeface="Trebuchet MS"/>
              </a:rPr>
              <a:t> </a:t>
            </a:r>
            <a:r>
              <a:rPr dirty="0" sz="2800" spc="145">
                <a:latin typeface="Trebuchet MS"/>
                <a:cs typeface="Trebuchet MS"/>
              </a:rPr>
              <a:t>Margin</a:t>
            </a:r>
            <a:r>
              <a:rPr dirty="0" sz="2800" spc="-12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Trend</a:t>
            </a:r>
            <a:endParaRPr sz="2800">
              <a:latin typeface="Trebuchet MS"/>
              <a:cs typeface="Trebuchet MS"/>
            </a:endParaRPr>
          </a:p>
          <a:p>
            <a:pPr marL="94615">
              <a:lnSpc>
                <a:spcPct val="100000"/>
              </a:lnSpc>
              <a:spcBef>
                <a:spcPts val="765"/>
              </a:spcBef>
            </a:pPr>
            <a:r>
              <a:rPr dirty="0" sz="2800" spc="320">
                <a:latin typeface="Lucida Sans Unicode"/>
                <a:cs typeface="Lucida Sans Unicode"/>
              </a:rPr>
              <a:t>▸</a:t>
            </a:r>
            <a:r>
              <a:rPr dirty="0" sz="2800" spc="-240">
                <a:latin typeface="Lucida Sans Unicode"/>
                <a:cs typeface="Lucida Sans Unicode"/>
              </a:rPr>
              <a:t> </a:t>
            </a:r>
            <a:r>
              <a:rPr dirty="0" sz="2800" spc="80">
                <a:latin typeface="Trebuchet MS"/>
                <a:cs typeface="Trebuchet MS"/>
              </a:rPr>
              <a:t>Category-</a:t>
            </a:r>
            <a:r>
              <a:rPr dirty="0" sz="2800" spc="85">
                <a:latin typeface="Trebuchet MS"/>
                <a:cs typeface="Trebuchet MS"/>
              </a:rPr>
              <a:t>wise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180">
                <a:latin typeface="Trebuchet MS"/>
                <a:cs typeface="Trebuchet MS"/>
              </a:rPr>
              <a:t>Sales</a:t>
            </a:r>
            <a:r>
              <a:rPr dirty="0" sz="2800" spc="-20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Distribution</a:t>
            </a:r>
            <a:endParaRPr sz="2800">
              <a:latin typeface="Trebuchet MS"/>
              <a:cs typeface="Trebuchet MS"/>
            </a:endParaRPr>
          </a:p>
          <a:p>
            <a:pPr marL="94615">
              <a:lnSpc>
                <a:spcPct val="100000"/>
              </a:lnSpc>
              <a:spcBef>
                <a:spcPts val="765"/>
              </a:spcBef>
            </a:pPr>
            <a:r>
              <a:rPr dirty="0" sz="2800" spc="320">
                <a:latin typeface="Lucida Sans Unicode"/>
                <a:cs typeface="Lucida Sans Unicode"/>
              </a:rPr>
              <a:t>▸</a:t>
            </a:r>
            <a:r>
              <a:rPr dirty="0" sz="2800" spc="-229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Top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10</a:t>
            </a:r>
            <a:r>
              <a:rPr dirty="0" sz="2800" spc="-185">
                <a:latin typeface="Trebuchet MS"/>
                <a:cs typeface="Trebuchet MS"/>
              </a:rPr>
              <a:t> </a:t>
            </a:r>
            <a:r>
              <a:rPr dirty="0" sz="2800" spc="85">
                <a:latin typeface="Trebuchet MS"/>
                <a:cs typeface="Trebuchet MS"/>
              </a:rPr>
              <a:t>Products</a:t>
            </a:r>
            <a:r>
              <a:rPr dirty="0" sz="2800" spc="-195">
                <a:latin typeface="Trebuchet MS"/>
                <a:cs typeface="Trebuchet MS"/>
              </a:rPr>
              <a:t> </a:t>
            </a:r>
            <a:r>
              <a:rPr dirty="0" sz="2800" spc="70">
                <a:latin typeface="Trebuchet MS"/>
                <a:cs typeface="Trebuchet MS"/>
              </a:rPr>
              <a:t>by</a:t>
            </a:r>
            <a:r>
              <a:rPr dirty="0" sz="2800" spc="-19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Profit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20" rIns="0" bIns="0" rtlCol="0" vert="horz">
            <a:spAutoFit/>
          </a:bodyPr>
          <a:lstStyle/>
          <a:p>
            <a:pPr marL="544195">
              <a:lnSpc>
                <a:spcPct val="100000"/>
              </a:lnSpc>
              <a:spcBef>
                <a:spcPts val="100"/>
              </a:spcBef>
            </a:pPr>
            <a:r>
              <a:rPr dirty="0" spc="245"/>
              <a:t>Key</a:t>
            </a:r>
            <a:r>
              <a:rPr dirty="0" spc="45"/>
              <a:t> </a:t>
            </a:r>
            <a:r>
              <a:rPr dirty="0" spc="160"/>
              <a:t>Insights</a:t>
            </a:r>
            <a:r>
              <a:rPr dirty="0" spc="135"/>
              <a:t> </a:t>
            </a:r>
            <a:r>
              <a:rPr dirty="0" spc="415"/>
              <a:t>&amp;</a:t>
            </a:r>
            <a:r>
              <a:rPr dirty="0" spc="130"/>
              <a:t> </a:t>
            </a:r>
            <a:r>
              <a:rPr dirty="0" spc="240"/>
              <a:t>Recommendations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028711" y="1959348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323300" y="2532474"/>
            <a:ext cx="13174980" cy="6494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55" b="1">
                <a:latin typeface="Trebuchet MS"/>
                <a:cs typeface="Trebuchet MS"/>
              </a:rPr>
              <a:t>Key</a:t>
            </a:r>
            <a:r>
              <a:rPr dirty="0" sz="2700" spc="-260" b="1">
                <a:latin typeface="Trebuchet MS"/>
                <a:cs typeface="Trebuchet MS"/>
              </a:rPr>
              <a:t> </a:t>
            </a:r>
            <a:r>
              <a:rPr dirty="0" sz="2700" spc="60" b="1">
                <a:latin typeface="Trebuchet MS"/>
                <a:cs typeface="Trebuchet MS"/>
              </a:rPr>
              <a:t>Findings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170">
                <a:latin typeface="Lucida Sans Unicode"/>
                <a:cs typeface="Lucida Sans Unicode"/>
              </a:rPr>
              <a:t> </a:t>
            </a:r>
            <a:r>
              <a:rPr dirty="0" sz="2700" spc="70">
                <a:latin typeface="Trebuchet MS"/>
                <a:cs typeface="Trebuchet MS"/>
              </a:rPr>
              <a:t>Returning</a:t>
            </a:r>
            <a:r>
              <a:rPr dirty="0" sz="2700" spc="-165">
                <a:latin typeface="Trebuchet MS"/>
                <a:cs typeface="Trebuchet MS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customers</a:t>
            </a:r>
            <a:r>
              <a:rPr dirty="0" sz="2700" spc="-14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form</a:t>
            </a:r>
            <a:r>
              <a:rPr dirty="0" sz="2700" spc="-125">
                <a:latin typeface="Trebuchet MS"/>
                <a:cs typeface="Trebuchet MS"/>
              </a:rPr>
              <a:t> </a:t>
            </a:r>
            <a:r>
              <a:rPr dirty="0" sz="2700" spc="95">
                <a:latin typeface="Trebuchet MS"/>
                <a:cs typeface="Trebuchet MS"/>
              </a:rPr>
              <a:t>a</a:t>
            </a:r>
            <a:r>
              <a:rPr dirty="0" sz="2700" spc="-130">
                <a:latin typeface="Trebuchet MS"/>
                <a:cs typeface="Trebuchet MS"/>
              </a:rPr>
              <a:t> </a:t>
            </a:r>
            <a:r>
              <a:rPr dirty="0" sz="2700" spc="-20">
                <a:latin typeface="Trebuchet MS"/>
                <a:cs typeface="Trebuchet MS"/>
              </a:rPr>
              <a:t>major</a:t>
            </a:r>
            <a:r>
              <a:rPr dirty="0" sz="2700" spc="-12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portion</a:t>
            </a:r>
            <a:r>
              <a:rPr dirty="0" sz="2700" spc="-17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of</a:t>
            </a:r>
            <a:r>
              <a:rPr dirty="0" sz="2700" spc="-14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total</a:t>
            </a:r>
            <a:r>
              <a:rPr dirty="0" sz="2700" spc="-170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customers.</a:t>
            </a: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73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60">
                <a:latin typeface="Lucida Sans Unicode"/>
                <a:cs typeface="Lucida Sans Unicode"/>
              </a:rPr>
              <a:t> </a:t>
            </a:r>
            <a:r>
              <a:rPr dirty="0" sz="2700" spc="175">
                <a:latin typeface="Trebuchet MS"/>
                <a:cs typeface="Trebuchet MS"/>
              </a:rPr>
              <a:t>Sales</a:t>
            </a:r>
            <a:r>
              <a:rPr dirty="0" sz="2700" spc="-8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concentrated</a:t>
            </a:r>
            <a:r>
              <a:rPr dirty="0" sz="2700" spc="-2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heavily</a:t>
            </a:r>
            <a:r>
              <a:rPr dirty="0" sz="2700" spc="-3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in</a:t>
            </a:r>
            <a:r>
              <a:rPr dirty="0" sz="2700" spc="-6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certain</a:t>
            </a:r>
            <a:r>
              <a:rPr dirty="0" sz="2700" spc="-20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states/segments.</a:t>
            </a: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73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16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Trebuchet MS"/>
                <a:cs typeface="Trebuchet MS"/>
              </a:rPr>
              <a:t>Technology/Furniture/Office</a:t>
            </a:r>
            <a:r>
              <a:rPr dirty="0" sz="2700" spc="-135">
                <a:latin typeface="Trebuchet MS"/>
                <a:cs typeface="Trebuchet MS"/>
              </a:rPr>
              <a:t> </a:t>
            </a:r>
            <a:r>
              <a:rPr dirty="0" sz="2700" spc="120">
                <a:latin typeface="Trebuchet MS"/>
                <a:cs typeface="Trebuchet MS"/>
              </a:rPr>
              <a:t>Supplies</a:t>
            </a:r>
            <a:r>
              <a:rPr dirty="0" sz="2700" spc="-130">
                <a:latin typeface="Trebuchet MS"/>
                <a:cs typeface="Trebuchet MS"/>
              </a:rPr>
              <a:t> </a:t>
            </a:r>
            <a:r>
              <a:rPr dirty="0" sz="2700" spc="110">
                <a:latin typeface="Trebuchet MS"/>
                <a:cs typeface="Trebuchet MS"/>
              </a:rPr>
              <a:t>show</a:t>
            </a:r>
            <a:r>
              <a:rPr dirty="0" sz="2700" spc="-16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different</a:t>
            </a:r>
            <a:r>
              <a:rPr dirty="0" sz="2700" spc="-120">
                <a:latin typeface="Trebuchet MS"/>
                <a:cs typeface="Trebuchet MS"/>
              </a:rPr>
              <a:t> </a:t>
            </a:r>
            <a:r>
              <a:rPr dirty="0" sz="2700" spc="105">
                <a:latin typeface="Trebuchet MS"/>
                <a:cs typeface="Trebuchet MS"/>
              </a:rPr>
              <a:t>seasonal</a:t>
            </a:r>
            <a:r>
              <a:rPr dirty="0" sz="2700" spc="-155">
                <a:latin typeface="Trebuchet MS"/>
                <a:cs typeface="Trebuchet MS"/>
              </a:rPr>
              <a:t> </a:t>
            </a:r>
            <a:r>
              <a:rPr dirty="0" sz="2700" spc="80">
                <a:latin typeface="Trebuchet MS"/>
                <a:cs typeface="Trebuchet MS"/>
              </a:rPr>
              <a:t>demand</a:t>
            </a:r>
            <a:r>
              <a:rPr dirty="0" sz="2700" spc="-120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patterns.</a:t>
            </a: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73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215">
                <a:latin typeface="Lucida Sans Unicode"/>
                <a:cs typeface="Lucida Sans Unicode"/>
              </a:rPr>
              <a:t> </a:t>
            </a:r>
            <a:r>
              <a:rPr dirty="0" sz="2700" spc="125">
                <a:latin typeface="Trebuchet MS"/>
                <a:cs typeface="Trebuchet MS"/>
              </a:rPr>
              <a:t>High-</a:t>
            </a:r>
            <a:r>
              <a:rPr dirty="0" sz="2700">
                <a:latin typeface="Trebuchet MS"/>
                <a:cs typeface="Trebuchet MS"/>
              </a:rPr>
              <a:t>profit</a:t>
            </a:r>
            <a:r>
              <a:rPr dirty="0" sz="2700" spc="-175">
                <a:latin typeface="Trebuchet MS"/>
                <a:cs typeface="Trebuchet MS"/>
              </a:rPr>
              <a:t> </a:t>
            </a:r>
            <a:r>
              <a:rPr dirty="0" sz="2700" spc="70">
                <a:latin typeface="Trebuchet MS"/>
                <a:cs typeface="Trebuchet MS"/>
              </a:rPr>
              <a:t>products</a:t>
            </a:r>
            <a:r>
              <a:rPr dirty="0" sz="2700" spc="-220">
                <a:latin typeface="Trebuchet MS"/>
                <a:cs typeface="Trebuchet MS"/>
              </a:rPr>
              <a:t> </a:t>
            </a:r>
            <a:r>
              <a:rPr dirty="0" sz="2700" spc="80">
                <a:latin typeface="Trebuchet MS"/>
                <a:cs typeface="Trebuchet MS"/>
              </a:rPr>
              <a:t>can</a:t>
            </a:r>
            <a:r>
              <a:rPr dirty="0" sz="2700" spc="-175">
                <a:latin typeface="Trebuchet MS"/>
                <a:cs typeface="Trebuchet MS"/>
              </a:rPr>
              <a:t> </a:t>
            </a:r>
            <a:r>
              <a:rPr dirty="0" sz="2700" spc="70">
                <a:latin typeface="Trebuchet MS"/>
                <a:cs typeface="Trebuchet MS"/>
              </a:rPr>
              <a:t>be</a:t>
            </a:r>
            <a:r>
              <a:rPr dirty="0" sz="2700" spc="-18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prioritized</a:t>
            </a:r>
            <a:r>
              <a:rPr dirty="0" sz="2700" spc="-17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in</a:t>
            </a:r>
            <a:r>
              <a:rPr dirty="0" sz="2700" spc="-175">
                <a:latin typeface="Trebuchet MS"/>
                <a:cs typeface="Trebuchet MS"/>
              </a:rPr>
              <a:t> </a:t>
            </a:r>
            <a:r>
              <a:rPr dirty="0" sz="2700" spc="60">
                <a:latin typeface="Trebuchet MS"/>
                <a:cs typeface="Trebuchet MS"/>
              </a:rPr>
              <a:t>marketing</a:t>
            </a:r>
            <a:r>
              <a:rPr dirty="0" sz="2700" spc="-210">
                <a:latin typeface="Trebuchet MS"/>
                <a:cs typeface="Trebuchet MS"/>
              </a:rPr>
              <a:t> </a:t>
            </a:r>
            <a:r>
              <a:rPr dirty="0" sz="2700" spc="50">
                <a:latin typeface="Trebuchet MS"/>
                <a:cs typeface="Trebuchet MS"/>
              </a:rPr>
              <a:t>campaigns.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00" spc="-10" b="1">
                <a:latin typeface="Trebuchet MS"/>
                <a:cs typeface="Trebuchet MS"/>
              </a:rPr>
              <a:t>Recommendations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14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Trebuchet MS"/>
                <a:cs typeface="Trebuchet MS"/>
              </a:rPr>
              <a:t>Improve</a:t>
            </a:r>
            <a:r>
              <a:rPr dirty="0" sz="2700" spc="-120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retention</a:t>
            </a:r>
            <a:r>
              <a:rPr dirty="0" sz="2700" spc="-12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with</a:t>
            </a:r>
            <a:r>
              <a:rPr dirty="0" sz="2700" spc="-10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loyalty</a:t>
            </a:r>
            <a:r>
              <a:rPr dirty="0" sz="2700" spc="-114">
                <a:latin typeface="Trebuchet MS"/>
                <a:cs typeface="Trebuchet MS"/>
              </a:rPr>
              <a:t> </a:t>
            </a:r>
            <a:r>
              <a:rPr dirty="0" sz="2700" spc="35">
                <a:latin typeface="Trebuchet MS"/>
                <a:cs typeface="Trebuchet MS"/>
              </a:rPr>
              <a:t>programs.</a:t>
            </a: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73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175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Trebuchet MS"/>
                <a:cs typeface="Trebuchet MS"/>
              </a:rPr>
              <a:t>Target</a:t>
            </a:r>
            <a:r>
              <a:rPr dirty="0" sz="2700" spc="-135">
                <a:latin typeface="Trebuchet MS"/>
                <a:cs typeface="Trebuchet MS"/>
              </a:rPr>
              <a:t> </a:t>
            </a:r>
            <a:r>
              <a:rPr dirty="0" sz="2700" spc="60">
                <a:latin typeface="Trebuchet MS"/>
                <a:cs typeface="Trebuchet MS"/>
              </a:rPr>
              <a:t>marketing</a:t>
            </a:r>
            <a:r>
              <a:rPr dirty="0" sz="2700" spc="-13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in</a:t>
            </a:r>
            <a:r>
              <a:rPr dirty="0" sz="2700" spc="-130">
                <a:latin typeface="Trebuchet MS"/>
                <a:cs typeface="Trebuchet MS"/>
              </a:rPr>
              <a:t> </a:t>
            </a:r>
            <a:r>
              <a:rPr dirty="0" sz="2700" spc="80">
                <a:latin typeface="Trebuchet MS"/>
                <a:cs typeface="Trebuchet MS"/>
              </a:rPr>
              <a:t>high-</a:t>
            </a:r>
            <a:r>
              <a:rPr dirty="0" sz="2700" spc="130">
                <a:latin typeface="Trebuchet MS"/>
                <a:cs typeface="Trebuchet MS"/>
              </a:rPr>
              <a:t>sales</a:t>
            </a:r>
            <a:r>
              <a:rPr dirty="0" sz="2700" spc="-145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regions.</a:t>
            </a: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73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18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Trebuchet MS"/>
                <a:cs typeface="Trebuchet MS"/>
              </a:rPr>
              <a:t>Promote</a:t>
            </a:r>
            <a:r>
              <a:rPr dirty="0" sz="2700" spc="-155">
                <a:latin typeface="Trebuchet MS"/>
                <a:cs typeface="Trebuchet MS"/>
              </a:rPr>
              <a:t> </a:t>
            </a:r>
            <a:r>
              <a:rPr dirty="0" sz="2700" spc="80">
                <a:latin typeface="Trebuchet MS"/>
                <a:cs typeface="Trebuchet MS"/>
              </a:rPr>
              <a:t>high-margin</a:t>
            </a:r>
            <a:r>
              <a:rPr dirty="0" sz="2700" spc="-135">
                <a:latin typeface="Trebuchet MS"/>
                <a:cs typeface="Trebuchet MS"/>
              </a:rPr>
              <a:t> </a:t>
            </a:r>
            <a:r>
              <a:rPr dirty="0" sz="2700" spc="70">
                <a:latin typeface="Trebuchet MS"/>
                <a:cs typeface="Trebuchet MS"/>
              </a:rPr>
              <a:t>products</a:t>
            </a:r>
            <a:r>
              <a:rPr dirty="0" sz="2700" spc="-185">
                <a:latin typeface="Trebuchet MS"/>
                <a:cs typeface="Trebuchet MS"/>
              </a:rPr>
              <a:t> </a:t>
            </a:r>
            <a:r>
              <a:rPr dirty="0" sz="2700" spc="80">
                <a:latin typeface="Trebuchet MS"/>
                <a:cs typeface="Trebuchet MS"/>
              </a:rPr>
              <a:t>during</a:t>
            </a:r>
            <a:r>
              <a:rPr dirty="0" sz="2700" spc="-135">
                <a:latin typeface="Trebuchet MS"/>
                <a:cs typeface="Trebuchet MS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peak</a:t>
            </a:r>
            <a:r>
              <a:rPr dirty="0" sz="2700" spc="-140">
                <a:latin typeface="Trebuchet MS"/>
                <a:cs typeface="Trebuchet MS"/>
              </a:rPr>
              <a:t> </a:t>
            </a:r>
            <a:r>
              <a:rPr dirty="0" sz="2700" spc="90">
                <a:latin typeface="Trebuchet MS"/>
                <a:cs typeface="Trebuchet MS"/>
              </a:rPr>
              <a:t>buying</a:t>
            </a:r>
            <a:r>
              <a:rPr dirty="0" sz="2700" spc="-135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months.</a:t>
            </a:r>
            <a:endParaRPr sz="27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spcBef>
                <a:spcPts val="735"/>
              </a:spcBef>
            </a:pPr>
            <a:r>
              <a:rPr dirty="0" sz="2700" spc="310">
                <a:latin typeface="Lucida Sans Unicode"/>
                <a:cs typeface="Lucida Sans Unicode"/>
              </a:rPr>
              <a:t>▸</a:t>
            </a:r>
            <a:r>
              <a:rPr dirty="0" sz="2700" spc="-180">
                <a:latin typeface="Lucida Sans Unicode"/>
                <a:cs typeface="Lucida Sans Unicode"/>
              </a:rPr>
              <a:t> </a:t>
            </a:r>
            <a:r>
              <a:rPr dirty="0" sz="2700">
                <a:latin typeface="Trebuchet MS"/>
                <a:cs typeface="Trebuchet MS"/>
              </a:rPr>
              <a:t>Optimize</a:t>
            </a:r>
            <a:r>
              <a:rPr dirty="0" sz="2700" spc="-155">
                <a:latin typeface="Trebuchet MS"/>
                <a:cs typeface="Trebuchet MS"/>
              </a:rPr>
              <a:t> </a:t>
            </a:r>
            <a:r>
              <a:rPr dirty="0" sz="2700" spc="100">
                <a:latin typeface="Trebuchet MS"/>
                <a:cs typeface="Trebuchet MS"/>
              </a:rPr>
              <a:t>shipping</a:t>
            </a:r>
            <a:r>
              <a:rPr dirty="0" sz="2700" spc="-140">
                <a:latin typeface="Trebuchet MS"/>
                <a:cs typeface="Trebuchet MS"/>
              </a:rPr>
              <a:t> </a:t>
            </a:r>
            <a:r>
              <a:rPr dirty="0" sz="2700" spc="80">
                <a:latin typeface="Trebuchet MS"/>
                <a:cs typeface="Trebuchet MS"/>
              </a:rPr>
              <a:t>strategy</a:t>
            </a:r>
            <a:r>
              <a:rPr dirty="0" sz="2700" spc="-150">
                <a:latin typeface="Trebuchet MS"/>
                <a:cs typeface="Trebuchet MS"/>
              </a:rPr>
              <a:t> </a:t>
            </a:r>
            <a:r>
              <a:rPr dirty="0" sz="2700" spc="70">
                <a:latin typeface="Trebuchet MS"/>
                <a:cs typeface="Trebuchet MS"/>
              </a:rPr>
              <a:t>by</a:t>
            </a:r>
            <a:r>
              <a:rPr dirty="0" sz="2700" spc="-150">
                <a:latin typeface="Trebuchet MS"/>
                <a:cs typeface="Trebuchet MS"/>
              </a:rPr>
              <a:t> </a:t>
            </a:r>
            <a:r>
              <a:rPr dirty="0" sz="2700" spc="65">
                <a:latin typeface="Trebuchet MS"/>
                <a:cs typeface="Trebuchet MS"/>
              </a:rPr>
              <a:t>analyzing</a:t>
            </a:r>
            <a:r>
              <a:rPr dirty="0" sz="2700" spc="-17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delivery</a:t>
            </a:r>
            <a:r>
              <a:rPr dirty="0" sz="2700" spc="-190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delays.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02870">
              <a:lnSpc>
                <a:spcPct val="122700"/>
              </a:lnSpc>
              <a:spcBef>
                <a:spcPts val="100"/>
              </a:spcBef>
            </a:pPr>
            <a:r>
              <a:rPr dirty="0" spc="310">
                <a:latin typeface="Lucida Sans Unicode"/>
                <a:cs typeface="Lucida Sans Unicode"/>
              </a:rPr>
              <a:t>▸</a:t>
            </a:r>
            <a:r>
              <a:rPr dirty="0" spc="-210">
                <a:latin typeface="Lucida Sans Unicode"/>
                <a:cs typeface="Lucida Sans Unicode"/>
              </a:rPr>
              <a:t> </a:t>
            </a:r>
            <a:r>
              <a:rPr dirty="0" spc="75"/>
              <a:t>This</a:t>
            </a:r>
            <a:r>
              <a:rPr dirty="0" spc="-180"/>
              <a:t> </a:t>
            </a:r>
            <a:r>
              <a:rPr dirty="0" spc="-20"/>
              <a:t>project</a:t>
            </a:r>
            <a:r>
              <a:rPr dirty="0" spc="-165"/>
              <a:t> </a:t>
            </a:r>
            <a:r>
              <a:rPr dirty="0" spc="100"/>
              <a:t>successfully</a:t>
            </a:r>
            <a:r>
              <a:rPr dirty="0" spc="-180"/>
              <a:t> </a:t>
            </a:r>
            <a:r>
              <a:rPr dirty="0" spc="50"/>
              <a:t>analyzed</a:t>
            </a:r>
            <a:r>
              <a:rPr dirty="0" spc="-204"/>
              <a:t> </a:t>
            </a:r>
            <a:r>
              <a:rPr dirty="0" spc="55"/>
              <a:t>e-commerce</a:t>
            </a:r>
            <a:r>
              <a:rPr dirty="0" spc="-185"/>
              <a:t> </a:t>
            </a:r>
            <a:r>
              <a:rPr dirty="0" spc="130"/>
              <a:t>sales</a:t>
            </a:r>
            <a:r>
              <a:rPr dirty="0" spc="-175"/>
              <a:t> </a:t>
            </a:r>
            <a:r>
              <a:rPr dirty="0" spc="55"/>
              <a:t>performance</a:t>
            </a:r>
            <a:r>
              <a:rPr dirty="0" spc="-185"/>
              <a:t> </a:t>
            </a:r>
            <a:r>
              <a:rPr dirty="0" spc="85"/>
              <a:t>and</a:t>
            </a:r>
            <a:r>
              <a:rPr dirty="0" spc="-204"/>
              <a:t> </a:t>
            </a:r>
            <a:r>
              <a:rPr dirty="0" spc="60"/>
              <a:t>customer</a:t>
            </a:r>
            <a:r>
              <a:rPr dirty="0" spc="-170"/>
              <a:t> </a:t>
            </a:r>
            <a:r>
              <a:rPr dirty="0" spc="-10"/>
              <a:t>retention</a:t>
            </a:r>
            <a:r>
              <a:rPr dirty="0" spc="-165"/>
              <a:t> </a:t>
            </a:r>
            <a:r>
              <a:rPr dirty="0" spc="130"/>
              <a:t>using</a:t>
            </a:r>
            <a:r>
              <a:rPr dirty="0" spc="-170"/>
              <a:t> </a:t>
            </a:r>
            <a:r>
              <a:rPr dirty="0" spc="-20"/>
              <a:t>Power BI,</a:t>
            </a:r>
            <a:r>
              <a:rPr dirty="0" spc="-155"/>
              <a:t> </a:t>
            </a:r>
            <a:r>
              <a:rPr dirty="0" spc="50"/>
              <a:t>providing</a:t>
            </a:r>
            <a:r>
              <a:rPr dirty="0" spc="-175"/>
              <a:t> </a:t>
            </a:r>
            <a:r>
              <a:rPr dirty="0"/>
              <a:t>clear</a:t>
            </a:r>
            <a:r>
              <a:rPr dirty="0" spc="-140"/>
              <a:t> </a:t>
            </a:r>
            <a:r>
              <a:rPr dirty="0" spc="95"/>
              <a:t>insights</a:t>
            </a:r>
            <a:r>
              <a:rPr dirty="0" spc="-165"/>
              <a:t> </a:t>
            </a:r>
            <a:r>
              <a:rPr dirty="0" spc="70"/>
              <a:t>through</a:t>
            </a:r>
            <a:r>
              <a:rPr dirty="0" spc="-135"/>
              <a:t> </a:t>
            </a:r>
            <a:r>
              <a:rPr dirty="0" spc="-10"/>
              <a:t>interactive</a:t>
            </a:r>
            <a:r>
              <a:rPr dirty="0" spc="-190"/>
              <a:t> </a:t>
            </a:r>
            <a:r>
              <a:rPr dirty="0" spc="50"/>
              <a:t>dashboards.</a:t>
            </a:r>
          </a:p>
          <a:p>
            <a:pPr>
              <a:lnSpc>
                <a:spcPct val="100000"/>
              </a:lnSpc>
              <a:spcBef>
                <a:spcPts val="835"/>
              </a:spcBef>
            </a:pPr>
          </a:p>
          <a:p>
            <a:pPr marL="12700" marR="147955" indent="78740">
              <a:lnSpc>
                <a:spcPct val="122700"/>
              </a:lnSpc>
              <a:spcBef>
                <a:spcPts val="5"/>
              </a:spcBef>
            </a:pPr>
            <a:r>
              <a:rPr dirty="0" spc="310">
                <a:latin typeface="Lucida Sans Unicode"/>
                <a:cs typeface="Lucida Sans Unicode"/>
              </a:rPr>
              <a:t>▸</a:t>
            </a:r>
            <a:r>
              <a:rPr dirty="0" spc="-135">
                <a:latin typeface="Lucida Sans Unicode"/>
                <a:cs typeface="Lucida Sans Unicode"/>
              </a:rPr>
              <a:t> </a:t>
            </a:r>
            <a:r>
              <a:rPr dirty="0" spc="10"/>
              <a:t>The</a:t>
            </a:r>
            <a:r>
              <a:rPr dirty="0" spc="-135"/>
              <a:t> </a:t>
            </a:r>
            <a:r>
              <a:rPr dirty="0" spc="10"/>
              <a:t>visualizations</a:t>
            </a:r>
            <a:r>
              <a:rPr dirty="0" spc="-105"/>
              <a:t> </a:t>
            </a:r>
            <a:r>
              <a:rPr dirty="0" spc="55"/>
              <a:t>helped</a:t>
            </a:r>
            <a:r>
              <a:rPr dirty="0" spc="-95"/>
              <a:t> </a:t>
            </a:r>
            <a:r>
              <a:rPr dirty="0" spc="10"/>
              <a:t>identify</a:t>
            </a:r>
            <a:r>
              <a:rPr dirty="0" spc="-105"/>
              <a:t> </a:t>
            </a:r>
            <a:r>
              <a:rPr dirty="0" spc="55"/>
              <a:t>key</a:t>
            </a:r>
            <a:r>
              <a:rPr dirty="0" spc="-125"/>
              <a:t> </a:t>
            </a:r>
            <a:r>
              <a:rPr dirty="0" spc="75"/>
              <a:t>trends</a:t>
            </a:r>
            <a:r>
              <a:rPr dirty="0" spc="-105"/>
              <a:t> </a:t>
            </a:r>
            <a:r>
              <a:rPr dirty="0" spc="125"/>
              <a:t>such</a:t>
            </a:r>
            <a:r>
              <a:rPr dirty="0" spc="-90"/>
              <a:t> </a:t>
            </a:r>
            <a:r>
              <a:rPr dirty="0" spc="175"/>
              <a:t>as</a:t>
            </a:r>
            <a:r>
              <a:rPr dirty="0" spc="-105"/>
              <a:t> </a:t>
            </a:r>
            <a:r>
              <a:rPr dirty="0" spc="130"/>
              <a:t>sales</a:t>
            </a:r>
            <a:r>
              <a:rPr dirty="0" spc="-110"/>
              <a:t> </a:t>
            </a:r>
            <a:r>
              <a:rPr dirty="0"/>
              <a:t>patterns,</a:t>
            </a:r>
            <a:r>
              <a:rPr dirty="0" spc="-110"/>
              <a:t> </a:t>
            </a:r>
            <a:r>
              <a:rPr dirty="0" spc="10"/>
              <a:t>profitable</a:t>
            </a:r>
            <a:r>
              <a:rPr dirty="0" spc="-110"/>
              <a:t> </a:t>
            </a:r>
            <a:r>
              <a:rPr dirty="0" spc="10"/>
              <a:t>product</a:t>
            </a:r>
            <a:r>
              <a:rPr dirty="0" spc="-135"/>
              <a:t> </a:t>
            </a:r>
            <a:r>
              <a:rPr dirty="0" spc="10"/>
              <a:t>categories,</a:t>
            </a:r>
            <a:r>
              <a:rPr dirty="0" spc="-110"/>
              <a:t> </a:t>
            </a:r>
            <a:r>
              <a:rPr dirty="0" spc="60"/>
              <a:t>and customer</a:t>
            </a:r>
            <a:r>
              <a:rPr dirty="0" spc="-170"/>
              <a:t> </a:t>
            </a:r>
            <a:r>
              <a:rPr dirty="0" spc="-10"/>
              <a:t>behavior.</a:t>
            </a:r>
          </a:p>
          <a:p>
            <a:pPr>
              <a:lnSpc>
                <a:spcPct val="100000"/>
              </a:lnSpc>
              <a:spcBef>
                <a:spcPts val="835"/>
              </a:spcBef>
            </a:pPr>
          </a:p>
          <a:p>
            <a:pPr marL="12700" marR="429895" indent="78740">
              <a:lnSpc>
                <a:spcPct val="122700"/>
              </a:lnSpc>
            </a:pPr>
            <a:r>
              <a:rPr dirty="0" spc="310">
                <a:latin typeface="Lucida Sans Unicode"/>
                <a:cs typeface="Lucida Sans Unicode"/>
              </a:rPr>
              <a:t>▸</a:t>
            </a:r>
            <a:r>
              <a:rPr dirty="0" spc="-110">
                <a:latin typeface="Lucida Sans Unicode"/>
                <a:cs typeface="Lucida Sans Unicode"/>
              </a:rPr>
              <a:t>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 spc="-10"/>
              <a:t>retention</a:t>
            </a:r>
            <a:r>
              <a:rPr dirty="0" spc="-70"/>
              <a:t> </a:t>
            </a:r>
            <a:r>
              <a:rPr dirty="0" spc="90"/>
              <a:t>analysis</a:t>
            </a:r>
            <a:r>
              <a:rPr dirty="0" spc="-80"/>
              <a:t> </a:t>
            </a:r>
            <a:r>
              <a:rPr dirty="0" spc="65"/>
              <a:t>highlighted</a:t>
            </a:r>
            <a:r>
              <a:rPr dirty="0" spc="-85"/>
              <a:t>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/>
              <a:t>proportion</a:t>
            </a:r>
            <a:r>
              <a:rPr dirty="0" spc="-110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50"/>
              <a:t>new</a:t>
            </a:r>
            <a:r>
              <a:rPr dirty="0" spc="-95"/>
              <a:t> </a:t>
            </a:r>
            <a:r>
              <a:rPr dirty="0" spc="-45"/>
              <a:t>vs.</a:t>
            </a:r>
            <a:r>
              <a:rPr dirty="0" spc="-85"/>
              <a:t> </a:t>
            </a:r>
            <a:r>
              <a:rPr dirty="0"/>
              <a:t>returning</a:t>
            </a:r>
            <a:r>
              <a:rPr dirty="0" spc="-110"/>
              <a:t> </a:t>
            </a:r>
            <a:r>
              <a:rPr dirty="0"/>
              <a:t>customers,</a:t>
            </a:r>
            <a:r>
              <a:rPr dirty="0" spc="-85"/>
              <a:t> </a:t>
            </a:r>
            <a:r>
              <a:rPr dirty="0" spc="75"/>
              <a:t>helping</a:t>
            </a:r>
            <a:r>
              <a:rPr dirty="0" spc="-70"/>
              <a:t> </a:t>
            </a:r>
            <a:r>
              <a:rPr dirty="0" spc="65"/>
              <a:t>understand </a:t>
            </a:r>
            <a:r>
              <a:rPr dirty="0"/>
              <a:t>loyalty</a:t>
            </a:r>
            <a:r>
              <a:rPr dirty="0" spc="-85"/>
              <a:t> </a:t>
            </a:r>
            <a:r>
              <a:rPr dirty="0" spc="-10"/>
              <a:t>levels.</a:t>
            </a:r>
          </a:p>
          <a:p>
            <a:pPr>
              <a:lnSpc>
                <a:spcPct val="100000"/>
              </a:lnSpc>
              <a:spcBef>
                <a:spcPts val="840"/>
              </a:spcBef>
            </a:pPr>
          </a:p>
          <a:p>
            <a:pPr marL="12700" marR="281305" indent="78740">
              <a:lnSpc>
                <a:spcPct val="122700"/>
              </a:lnSpc>
            </a:pPr>
            <a:r>
              <a:rPr dirty="0" spc="310">
                <a:latin typeface="Lucida Sans Unicode"/>
                <a:cs typeface="Lucida Sans Unicode"/>
              </a:rPr>
              <a:t>▸</a:t>
            </a:r>
            <a:r>
              <a:rPr dirty="0" spc="-180">
                <a:latin typeface="Lucida Sans Unicode"/>
                <a:cs typeface="Lucida Sans Unicode"/>
              </a:rPr>
              <a:t> </a:t>
            </a:r>
            <a:r>
              <a:rPr dirty="0"/>
              <a:t>The</a:t>
            </a:r>
            <a:r>
              <a:rPr dirty="0" spc="-155"/>
              <a:t> </a:t>
            </a:r>
            <a:r>
              <a:rPr dirty="0"/>
              <a:t>report</a:t>
            </a:r>
            <a:r>
              <a:rPr dirty="0" spc="-140"/>
              <a:t> </a:t>
            </a:r>
            <a:r>
              <a:rPr dirty="0" spc="95"/>
              <a:t>also</a:t>
            </a:r>
            <a:r>
              <a:rPr dirty="0" spc="-155"/>
              <a:t> </a:t>
            </a:r>
            <a:r>
              <a:rPr dirty="0" spc="105"/>
              <a:t>showcased</a:t>
            </a:r>
            <a:r>
              <a:rPr dirty="0" spc="-175"/>
              <a:t> </a:t>
            </a:r>
            <a:r>
              <a:rPr dirty="0" spc="60"/>
              <a:t>category-</a:t>
            </a:r>
            <a:r>
              <a:rPr dirty="0" spc="85"/>
              <a:t>wise</a:t>
            </a:r>
            <a:r>
              <a:rPr dirty="0" spc="-155"/>
              <a:t> </a:t>
            </a:r>
            <a:r>
              <a:rPr dirty="0" spc="55"/>
              <a:t>performance</a:t>
            </a:r>
            <a:r>
              <a:rPr dirty="0" spc="-155"/>
              <a:t> </a:t>
            </a:r>
            <a:r>
              <a:rPr dirty="0" spc="85"/>
              <a:t>and</a:t>
            </a:r>
            <a:r>
              <a:rPr dirty="0" spc="-135"/>
              <a:t> </a:t>
            </a:r>
            <a:r>
              <a:rPr dirty="0"/>
              <a:t>monthly</a:t>
            </a:r>
            <a:r>
              <a:rPr dirty="0" spc="-150"/>
              <a:t> </a:t>
            </a:r>
            <a:r>
              <a:rPr dirty="0"/>
              <a:t>profit</a:t>
            </a:r>
            <a:r>
              <a:rPr dirty="0" spc="-155"/>
              <a:t> </a:t>
            </a:r>
            <a:r>
              <a:rPr dirty="0" spc="75"/>
              <a:t>trends</a:t>
            </a:r>
            <a:r>
              <a:rPr dirty="0" spc="-165"/>
              <a:t> </a:t>
            </a:r>
            <a:r>
              <a:rPr dirty="0"/>
              <a:t>to</a:t>
            </a:r>
            <a:r>
              <a:rPr dirty="0" spc="-155"/>
              <a:t> </a:t>
            </a:r>
            <a:r>
              <a:rPr dirty="0" spc="80"/>
              <a:t>support</a:t>
            </a:r>
            <a:r>
              <a:rPr dirty="0" spc="-180"/>
              <a:t> </a:t>
            </a:r>
            <a:r>
              <a:rPr dirty="0" spc="45"/>
              <a:t>decision- </a:t>
            </a:r>
            <a:r>
              <a:rPr dirty="0" spc="-10"/>
              <a:t>making.</a:t>
            </a:r>
          </a:p>
          <a:p>
            <a:pPr>
              <a:lnSpc>
                <a:spcPct val="100000"/>
              </a:lnSpc>
              <a:spcBef>
                <a:spcPts val="840"/>
              </a:spcBef>
            </a:pPr>
          </a:p>
          <a:p>
            <a:pPr marL="12700" marR="5080">
              <a:lnSpc>
                <a:spcPct val="122700"/>
              </a:lnSpc>
            </a:pPr>
            <a:r>
              <a:rPr dirty="0" spc="310">
                <a:latin typeface="Lucida Sans Unicode"/>
                <a:cs typeface="Lucida Sans Unicode"/>
              </a:rPr>
              <a:t>▸</a:t>
            </a:r>
            <a:r>
              <a:rPr dirty="0" spc="-125">
                <a:latin typeface="Lucida Sans Unicode"/>
                <a:cs typeface="Lucida Sans Unicode"/>
              </a:rPr>
              <a:t> </a:t>
            </a:r>
            <a:r>
              <a:rPr dirty="0"/>
              <a:t>The</a:t>
            </a:r>
            <a:r>
              <a:rPr dirty="0" spc="-95"/>
              <a:t> </a:t>
            </a:r>
            <a:r>
              <a:rPr dirty="0" spc="90"/>
              <a:t>analysis</a:t>
            </a:r>
            <a:r>
              <a:rPr dirty="0" spc="-135"/>
              <a:t> </a:t>
            </a:r>
            <a:r>
              <a:rPr dirty="0" spc="80"/>
              <a:t>can</a:t>
            </a:r>
            <a:r>
              <a:rPr dirty="0" spc="-80"/>
              <a:t> </a:t>
            </a:r>
            <a:r>
              <a:rPr dirty="0" spc="80"/>
              <a:t>support</a:t>
            </a:r>
            <a:r>
              <a:rPr dirty="0" spc="-80"/>
              <a:t> </a:t>
            </a:r>
            <a:r>
              <a:rPr dirty="0" spc="125"/>
              <a:t>business</a:t>
            </a:r>
            <a:r>
              <a:rPr dirty="0" spc="-110"/>
              <a:t> </a:t>
            </a:r>
            <a:r>
              <a:rPr dirty="0" spc="85"/>
              <a:t>teams</a:t>
            </a:r>
            <a:r>
              <a:rPr dirty="0" spc="-95"/>
              <a:t> </a:t>
            </a:r>
            <a:r>
              <a:rPr dirty="0"/>
              <a:t>in</a:t>
            </a:r>
            <a:r>
              <a:rPr dirty="0" spc="-80"/>
              <a:t> </a:t>
            </a:r>
            <a:r>
              <a:rPr dirty="0" spc="45"/>
              <a:t>refining</a:t>
            </a:r>
            <a:r>
              <a:rPr dirty="0" spc="-80"/>
              <a:t> </a:t>
            </a:r>
            <a:r>
              <a:rPr dirty="0" spc="60"/>
              <a:t>marketing</a:t>
            </a:r>
            <a:r>
              <a:rPr dirty="0" spc="-80"/>
              <a:t> </a:t>
            </a:r>
            <a:r>
              <a:rPr dirty="0"/>
              <a:t>strategies,</a:t>
            </a:r>
            <a:r>
              <a:rPr dirty="0" spc="-140"/>
              <a:t> </a:t>
            </a:r>
            <a:r>
              <a:rPr dirty="0"/>
              <a:t>optimizing</a:t>
            </a:r>
            <a:r>
              <a:rPr dirty="0" spc="-80"/>
              <a:t> </a:t>
            </a:r>
            <a:r>
              <a:rPr dirty="0"/>
              <a:t>product</a:t>
            </a:r>
            <a:r>
              <a:rPr dirty="0" spc="-80"/>
              <a:t> </a:t>
            </a:r>
            <a:r>
              <a:rPr dirty="0"/>
              <a:t>focus,</a:t>
            </a:r>
            <a:r>
              <a:rPr dirty="0" spc="-95"/>
              <a:t> </a:t>
            </a:r>
            <a:r>
              <a:rPr dirty="0" spc="60"/>
              <a:t>and </a:t>
            </a:r>
            <a:r>
              <a:rPr dirty="0" spc="45"/>
              <a:t>improving</a:t>
            </a:r>
            <a:r>
              <a:rPr dirty="0" spc="-200"/>
              <a:t> </a:t>
            </a:r>
            <a:r>
              <a:rPr dirty="0" spc="60"/>
              <a:t>customer</a:t>
            </a:r>
            <a:r>
              <a:rPr dirty="0" spc="-200"/>
              <a:t> </a:t>
            </a:r>
            <a:r>
              <a:rPr dirty="0" spc="-10"/>
              <a:t>experience.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250" rIns="0" bIns="0" rtlCol="0" vert="horz">
            <a:spAutoFit/>
          </a:bodyPr>
          <a:lstStyle/>
          <a:p>
            <a:pPr marL="681355">
              <a:lnSpc>
                <a:spcPct val="100000"/>
              </a:lnSpc>
              <a:spcBef>
                <a:spcPts val="100"/>
              </a:spcBef>
            </a:pPr>
            <a:r>
              <a:rPr dirty="0" spc="254"/>
              <a:t>Conclusion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028711" y="1959348"/>
            <a:ext cx="16230600" cy="38735"/>
          </a:xfrm>
          <a:custGeom>
            <a:avLst/>
            <a:gdLst/>
            <a:ahLst/>
            <a:cxnLst/>
            <a:rect l="l" t="t" r="r" b="b"/>
            <a:pathLst>
              <a:path w="16230600" h="38735">
                <a:moveTo>
                  <a:pt x="0" y="38508"/>
                </a:moveTo>
                <a:lnTo>
                  <a:pt x="16230593" y="0"/>
                </a:lnTo>
              </a:path>
            </a:pathLst>
          </a:custGeom>
          <a:ln w="9524">
            <a:solidFill>
              <a:srgbClr val="2A2B2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5181" y="3290277"/>
            <a:ext cx="6660515" cy="16046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350" spc="310" b="0">
                <a:solidFill>
                  <a:srgbClr val="2A2B2F"/>
                </a:solidFill>
                <a:latin typeface="Cambria"/>
                <a:cs typeface="Cambria"/>
              </a:rPr>
              <a:t>Thank</a:t>
            </a:r>
            <a:r>
              <a:rPr dirty="0" sz="10350" spc="405" b="0">
                <a:solidFill>
                  <a:srgbClr val="2A2B2F"/>
                </a:solidFill>
                <a:latin typeface="Cambria"/>
                <a:cs typeface="Cambria"/>
              </a:rPr>
              <a:t> </a:t>
            </a:r>
            <a:r>
              <a:rPr dirty="0" sz="10350" spc="60" b="0">
                <a:solidFill>
                  <a:srgbClr val="2A2B2F"/>
                </a:solidFill>
                <a:latin typeface="Cambria"/>
                <a:cs typeface="Cambria"/>
              </a:rPr>
              <a:t>you!</a:t>
            </a:r>
            <a:endParaRPr sz="103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Ayona Stephen</dc:creator>
  <cp:keywords>DAG5P7VuSlc,BAGS9koH-sw,0</cp:keywords>
  <dc:title>E-Commerce Sales &amp; Customer Retention Analysis</dc:title>
  <dcterms:created xsi:type="dcterms:W3CDTF">2025-11-20T16:29:04Z</dcterms:created>
  <dcterms:modified xsi:type="dcterms:W3CDTF">2025-11-20T16:29:04Z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2025-11-20T00:00:00Z</vt:filetime>
  </property>
  <property fmtid="{D5CDD505-2E9C-101B-9397-08002B2CF9AE}" pid="5" name="Producer">
    <vt:lpwstr>Canva</vt:lpwstr>
  </property>
</Properties>
</file>